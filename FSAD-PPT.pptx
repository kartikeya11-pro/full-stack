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5116DD-0DF3-4A37-B82B-8AB6EAFF57E2}" v="106" dt="2026-03-21T13:45:05.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2" d="100"/>
          <a:sy n="32" d="100"/>
        </p:scale>
        <p:origin x="53" y="13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40F8C1-4985-4B87-97B4-21CCB5A01423}" type="doc">
      <dgm:prSet loTypeId="urn:microsoft.com/office/officeart/2005/8/layout/cycle2" loCatId="cycle" qsTypeId="urn:microsoft.com/office/officeart/2005/8/quickstyle/simple1" qsCatId="simple" csTypeId="urn:microsoft.com/office/officeart/2005/8/colors/accent1_2" csCatId="accent1"/>
      <dgm:spPr/>
      <dgm:t>
        <a:bodyPr/>
        <a:lstStyle/>
        <a:p>
          <a:endParaRPr lang="en-IN"/>
        </a:p>
      </dgm:t>
    </dgm:pt>
    <dgm:pt modelId="{B0F17A2A-410C-4CC9-BC84-22B525B5072F}">
      <dgm:prSet/>
      <dgm:spPr/>
      <dgm:t>
        <a:bodyPr/>
        <a:lstStyle/>
        <a:p>
          <a:r>
            <a:rPr lang="en-US" b="1"/>
            <a:t>Student Interaction:</a:t>
          </a:r>
          <a:r>
            <a:rPr lang="en-US"/>
            <a:t> The user enters data (Name, ID, Email) into the Vel Tech themed frontend</a:t>
          </a:r>
          <a:endParaRPr lang="en-IN"/>
        </a:p>
      </dgm:t>
    </dgm:pt>
    <dgm:pt modelId="{6927221E-FB0F-4C98-8BBB-2D5042DF793C}" type="parTrans" cxnId="{67E128C2-4F7C-4BF3-B5EC-B8A22BD988AB}">
      <dgm:prSet/>
      <dgm:spPr/>
      <dgm:t>
        <a:bodyPr/>
        <a:lstStyle/>
        <a:p>
          <a:endParaRPr lang="en-IN"/>
        </a:p>
      </dgm:t>
    </dgm:pt>
    <dgm:pt modelId="{2560AAD0-2995-4174-9B92-68E27315A993}" type="sibTrans" cxnId="{67E128C2-4F7C-4BF3-B5EC-B8A22BD988AB}">
      <dgm:prSet/>
      <dgm:spPr/>
      <dgm:t>
        <a:bodyPr/>
        <a:lstStyle/>
        <a:p>
          <a:endParaRPr lang="en-IN"/>
        </a:p>
      </dgm:t>
    </dgm:pt>
    <dgm:pt modelId="{93E94E6D-FF95-4ACC-8939-834F6FEF5F43}">
      <dgm:prSet/>
      <dgm:spPr/>
      <dgm:t>
        <a:bodyPr/>
        <a:lstStyle/>
        <a:p>
          <a:r>
            <a:rPr lang="en-US" b="1"/>
            <a:t>Validation:</a:t>
          </a:r>
          <a:r>
            <a:rPr lang="en-US"/>
            <a:t> JavaScript (app.js) checks if all fields are filled and the email format is correct.</a:t>
          </a:r>
          <a:endParaRPr lang="en-IN"/>
        </a:p>
      </dgm:t>
    </dgm:pt>
    <dgm:pt modelId="{5E8BF01B-C148-43C7-A00B-CD24377EFF7B}" type="parTrans" cxnId="{17DA2870-A5A1-4011-BEBD-0D13A6042D87}">
      <dgm:prSet/>
      <dgm:spPr/>
      <dgm:t>
        <a:bodyPr/>
        <a:lstStyle/>
        <a:p>
          <a:endParaRPr lang="en-IN"/>
        </a:p>
      </dgm:t>
    </dgm:pt>
    <dgm:pt modelId="{9FE98D69-41F5-47C2-9467-40F93789565D}" type="sibTrans" cxnId="{17DA2870-A5A1-4011-BEBD-0D13A6042D87}">
      <dgm:prSet/>
      <dgm:spPr/>
      <dgm:t>
        <a:bodyPr/>
        <a:lstStyle/>
        <a:p>
          <a:endParaRPr lang="en-IN"/>
        </a:p>
      </dgm:t>
    </dgm:pt>
    <dgm:pt modelId="{0DDAD3D6-B4BE-4BF8-8328-54BF9F76032F}">
      <dgm:prSet/>
      <dgm:spPr/>
      <dgm:t>
        <a:bodyPr/>
        <a:lstStyle/>
        <a:p>
          <a:r>
            <a:rPr lang="en-US" b="1"/>
            <a:t>Database Connection:</a:t>
          </a:r>
          <a:r>
            <a:rPr lang="en-US"/>
            <a:t> The Firebase SDK establishes a secure link using the provided apiKey and projectId</a:t>
          </a:r>
          <a:endParaRPr lang="en-IN"/>
        </a:p>
      </dgm:t>
    </dgm:pt>
    <dgm:pt modelId="{D50999C0-16BE-4963-8F9E-17F57D05CF56}" type="parTrans" cxnId="{7B5BBD80-64FD-43F8-A73D-88D2B0178875}">
      <dgm:prSet/>
      <dgm:spPr/>
      <dgm:t>
        <a:bodyPr/>
        <a:lstStyle/>
        <a:p>
          <a:endParaRPr lang="en-IN"/>
        </a:p>
      </dgm:t>
    </dgm:pt>
    <dgm:pt modelId="{DD26D33A-6EA9-41AC-9557-B8A64CAFE796}" type="sibTrans" cxnId="{7B5BBD80-64FD-43F8-A73D-88D2B0178875}">
      <dgm:prSet/>
      <dgm:spPr/>
      <dgm:t>
        <a:bodyPr/>
        <a:lstStyle/>
        <a:p>
          <a:endParaRPr lang="en-IN"/>
        </a:p>
      </dgm:t>
    </dgm:pt>
    <dgm:pt modelId="{09DB7239-BCF6-468A-9450-84C3E918F506}">
      <dgm:prSet/>
      <dgm:spPr/>
      <dgm:t>
        <a:bodyPr/>
        <a:lstStyle/>
        <a:p>
          <a:r>
            <a:rPr lang="en-US" b="1"/>
            <a:t>Data Transmission:</a:t>
          </a:r>
          <a:r>
            <a:rPr lang="en-US"/>
            <a:t> The addDoc function sends the JSON object containing student details to the cloud</a:t>
          </a:r>
          <a:endParaRPr lang="en-IN"/>
        </a:p>
      </dgm:t>
    </dgm:pt>
    <dgm:pt modelId="{E0F0A778-F09F-4816-B979-661BCAA3C76C}" type="parTrans" cxnId="{99E03A39-D364-49EC-8D56-54A6BA80F4C4}">
      <dgm:prSet/>
      <dgm:spPr/>
      <dgm:t>
        <a:bodyPr/>
        <a:lstStyle/>
        <a:p>
          <a:endParaRPr lang="en-IN"/>
        </a:p>
      </dgm:t>
    </dgm:pt>
    <dgm:pt modelId="{85D4C725-1098-4D04-BB88-60A5F7C27A28}" type="sibTrans" cxnId="{99E03A39-D364-49EC-8D56-54A6BA80F4C4}">
      <dgm:prSet/>
      <dgm:spPr/>
      <dgm:t>
        <a:bodyPr/>
        <a:lstStyle/>
        <a:p>
          <a:endParaRPr lang="en-IN"/>
        </a:p>
      </dgm:t>
    </dgm:pt>
    <dgm:pt modelId="{FE6EC5CC-39B3-4AA5-A26C-04584C94B7CF}">
      <dgm:prSet/>
      <dgm:spPr/>
      <dgm:t>
        <a:bodyPr/>
        <a:lstStyle/>
        <a:p>
          <a:r>
            <a:rPr lang="en-US" b="1"/>
            <a:t>Cloud Storage:</a:t>
          </a:r>
          <a:r>
            <a:rPr lang="en-US"/>
            <a:t> Firebase Firestore receives the data and stores it in the vtu_event_registrations collection</a:t>
          </a:r>
          <a:endParaRPr lang="en-IN"/>
        </a:p>
      </dgm:t>
    </dgm:pt>
    <dgm:pt modelId="{1C5A93B1-3037-441B-8DCD-9690FB5C26A6}" type="parTrans" cxnId="{E05C869A-FC97-4E7B-A663-18405CB9D585}">
      <dgm:prSet/>
      <dgm:spPr/>
      <dgm:t>
        <a:bodyPr/>
        <a:lstStyle/>
        <a:p>
          <a:endParaRPr lang="en-IN"/>
        </a:p>
      </dgm:t>
    </dgm:pt>
    <dgm:pt modelId="{94E29B18-B5E2-4789-AF2F-5BF896E89654}" type="sibTrans" cxnId="{E05C869A-FC97-4E7B-A663-18405CB9D585}">
      <dgm:prSet/>
      <dgm:spPr/>
      <dgm:t>
        <a:bodyPr/>
        <a:lstStyle/>
        <a:p>
          <a:endParaRPr lang="en-IN"/>
        </a:p>
      </dgm:t>
    </dgm:pt>
    <dgm:pt modelId="{7B74786D-758C-400D-9F82-3C45259A2E73}">
      <dgm:prSet/>
      <dgm:spPr/>
      <dgm:t>
        <a:bodyPr/>
        <a:lstStyle/>
        <a:p>
          <a:r>
            <a:rPr lang="en-US" b="1"/>
            <a:t>Acknowledgement:</a:t>
          </a:r>
          <a:r>
            <a:rPr lang="en-US"/>
            <a:t> The system returns a success Response (Document ID), and the frontend displays a "Registration Successful" alert to the student.</a:t>
          </a:r>
          <a:endParaRPr lang="en-IN"/>
        </a:p>
      </dgm:t>
    </dgm:pt>
    <dgm:pt modelId="{CE01C2E2-4339-4230-8970-9E99E0DBFD3A}" type="parTrans" cxnId="{5BAE7553-735C-48CE-AEC9-D822E13D119B}">
      <dgm:prSet/>
      <dgm:spPr/>
      <dgm:t>
        <a:bodyPr/>
        <a:lstStyle/>
        <a:p>
          <a:endParaRPr lang="en-IN"/>
        </a:p>
      </dgm:t>
    </dgm:pt>
    <dgm:pt modelId="{CB8D37DB-F44F-4889-BC4E-79512C6918A8}" type="sibTrans" cxnId="{5BAE7553-735C-48CE-AEC9-D822E13D119B}">
      <dgm:prSet/>
      <dgm:spPr/>
      <dgm:t>
        <a:bodyPr/>
        <a:lstStyle/>
        <a:p>
          <a:endParaRPr lang="en-IN"/>
        </a:p>
      </dgm:t>
    </dgm:pt>
    <dgm:pt modelId="{2298701A-B582-4F11-80D0-9E0B4744B5DA}" type="pres">
      <dgm:prSet presAssocID="{9940F8C1-4985-4B87-97B4-21CCB5A01423}" presName="cycle" presStyleCnt="0">
        <dgm:presLayoutVars>
          <dgm:dir/>
          <dgm:resizeHandles val="exact"/>
        </dgm:presLayoutVars>
      </dgm:prSet>
      <dgm:spPr/>
    </dgm:pt>
    <dgm:pt modelId="{FAB25FB8-FDA7-4028-A2B0-A4393908FBFC}" type="pres">
      <dgm:prSet presAssocID="{B0F17A2A-410C-4CC9-BC84-22B525B5072F}" presName="node" presStyleLbl="node1" presStyleIdx="0" presStyleCnt="6">
        <dgm:presLayoutVars>
          <dgm:bulletEnabled val="1"/>
        </dgm:presLayoutVars>
      </dgm:prSet>
      <dgm:spPr/>
    </dgm:pt>
    <dgm:pt modelId="{06C12763-8759-4ECC-A6F5-FD5D6160AA6B}" type="pres">
      <dgm:prSet presAssocID="{2560AAD0-2995-4174-9B92-68E27315A993}" presName="sibTrans" presStyleLbl="sibTrans2D1" presStyleIdx="0" presStyleCnt="6"/>
      <dgm:spPr/>
    </dgm:pt>
    <dgm:pt modelId="{A8708132-8B9E-4008-B8DF-80AC9EA44C47}" type="pres">
      <dgm:prSet presAssocID="{2560AAD0-2995-4174-9B92-68E27315A993}" presName="connectorText" presStyleLbl="sibTrans2D1" presStyleIdx="0" presStyleCnt="6"/>
      <dgm:spPr/>
    </dgm:pt>
    <dgm:pt modelId="{30989CC1-BCDE-4550-A8D2-ED13CC576C39}" type="pres">
      <dgm:prSet presAssocID="{93E94E6D-FF95-4ACC-8939-834F6FEF5F43}" presName="node" presStyleLbl="node1" presStyleIdx="1" presStyleCnt="6">
        <dgm:presLayoutVars>
          <dgm:bulletEnabled val="1"/>
        </dgm:presLayoutVars>
      </dgm:prSet>
      <dgm:spPr/>
    </dgm:pt>
    <dgm:pt modelId="{A7178A9D-A498-4E88-B683-73FCF37B27C8}" type="pres">
      <dgm:prSet presAssocID="{9FE98D69-41F5-47C2-9467-40F93789565D}" presName="sibTrans" presStyleLbl="sibTrans2D1" presStyleIdx="1" presStyleCnt="6"/>
      <dgm:spPr/>
    </dgm:pt>
    <dgm:pt modelId="{04E0F541-D999-4A2B-A8FC-D3721DEDD818}" type="pres">
      <dgm:prSet presAssocID="{9FE98D69-41F5-47C2-9467-40F93789565D}" presName="connectorText" presStyleLbl="sibTrans2D1" presStyleIdx="1" presStyleCnt="6"/>
      <dgm:spPr/>
    </dgm:pt>
    <dgm:pt modelId="{701943EB-36FF-4883-BCA0-D2F5A4D7C56F}" type="pres">
      <dgm:prSet presAssocID="{0DDAD3D6-B4BE-4BF8-8328-54BF9F76032F}" presName="node" presStyleLbl="node1" presStyleIdx="2" presStyleCnt="6">
        <dgm:presLayoutVars>
          <dgm:bulletEnabled val="1"/>
        </dgm:presLayoutVars>
      </dgm:prSet>
      <dgm:spPr/>
    </dgm:pt>
    <dgm:pt modelId="{884CA8AA-F527-45C6-8D23-BBD38F2979BE}" type="pres">
      <dgm:prSet presAssocID="{DD26D33A-6EA9-41AC-9557-B8A64CAFE796}" presName="sibTrans" presStyleLbl="sibTrans2D1" presStyleIdx="2" presStyleCnt="6"/>
      <dgm:spPr/>
    </dgm:pt>
    <dgm:pt modelId="{8A8782E5-D6D3-4F4D-A77D-2FCA81A347C2}" type="pres">
      <dgm:prSet presAssocID="{DD26D33A-6EA9-41AC-9557-B8A64CAFE796}" presName="connectorText" presStyleLbl="sibTrans2D1" presStyleIdx="2" presStyleCnt="6"/>
      <dgm:spPr/>
    </dgm:pt>
    <dgm:pt modelId="{B497CCE3-FFF0-4995-B9A9-E65E75CC0BFB}" type="pres">
      <dgm:prSet presAssocID="{09DB7239-BCF6-468A-9450-84C3E918F506}" presName="node" presStyleLbl="node1" presStyleIdx="3" presStyleCnt="6">
        <dgm:presLayoutVars>
          <dgm:bulletEnabled val="1"/>
        </dgm:presLayoutVars>
      </dgm:prSet>
      <dgm:spPr/>
    </dgm:pt>
    <dgm:pt modelId="{941C5006-AEA4-4910-AE90-996294DABB75}" type="pres">
      <dgm:prSet presAssocID="{85D4C725-1098-4D04-BB88-60A5F7C27A28}" presName="sibTrans" presStyleLbl="sibTrans2D1" presStyleIdx="3" presStyleCnt="6"/>
      <dgm:spPr/>
    </dgm:pt>
    <dgm:pt modelId="{0A5B97E3-F627-42BD-88EB-FBD5D1B81B7D}" type="pres">
      <dgm:prSet presAssocID="{85D4C725-1098-4D04-BB88-60A5F7C27A28}" presName="connectorText" presStyleLbl="sibTrans2D1" presStyleIdx="3" presStyleCnt="6"/>
      <dgm:spPr/>
    </dgm:pt>
    <dgm:pt modelId="{917B8882-0258-4734-AF61-A862F67EEA68}" type="pres">
      <dgm:prSet presAssocID="{FE6EC5CC-39B3-4AA5-A26C-04584C94B7CF}" presName="node" presStyleLbl="node1" presStyleIdx="4" presStyleCnt="6">
        <dgm:presLayoutVars>
          <dgm:bulletEnabled val="1"/>
        </dgm:presLayoutVars>
      </dgm:prSet>
      <dgm:spPr/>
    </dgm:pt>
    <dgm:pt modelId="{53F28560-590C-4039-BFA4-4980EDD3E1B2}" type="pres">
      <dgm:prSet presAssocID="{94E29B18-B5E2-4789-AF2F-5BF896E89654}" presName="sibTrans" presStyleLbl="sibTrans2D1" presStyleIdx="4" presStyleCnt="6"/>
      <dgm:spPr/>
    </dgm:pt>
    <dgm:pt modelId="{A12104CA-48C9-402F-8D88-0A20EA96CFFA}" type="pres">
      <dgm:prSet presAssocID="{94E29B18-B5E2-4789-AF2F-5BF896E89654}" presName="connectorText" presStyleLbl="sibTrans2D1" presStyleIdx="4" presStyleCnt="6"/>
      <dgm:spPr/>
    </dgm:pt>
    <dgm:pt modelId="{5CF68679-4D1F-4A0E-9C8D-701417C40528}" type="pres">
      <dgm:prSet presAssocID="{7B74786D-758C-400D-9F82-3C45259A2E73}" presName="node" presStyleLbl="node1" presStyleIdx="5" presStyleCnt="6">
        <dgm:presLayoutVars>
          <dgm:bulletEnabled val="1"/>
        </dgm:presLayoutVars>
      </dgm:prSet>
      <dgm:spPr/>
    </dgm:pt>
    <dgm:pt modelId="{04C897AF-B4E5-4706-B441-4BA438A0401A}" type="pres">
      <dgm:prSet presAssocID="{CB8D37DB-F44F-4889-BC4E-79512C6918A8}" presName="sibTrans" presStyleLbl="sibTrans2D1" presStyleIdx="5" presStyleCnt="6"/>
      <dgm:spPr/>
    </dgm:pt>
    <dgm:pt modelId="{2B15769D-A215-4944-B9D9-7121411290BD}" type="pres">
      <dgm:prSet presAssocID="{CB8D37DB-F44F-4889-BC4E-79512C6918A8}" presName="connectorText" presStyleLbl="sibTrans2D1" presStyleIdx="5" presStyleCnt="6"/>
      <dgm:spPr/>
    </dgm:pt>
  </dgm:ptLst>
  <dgm:cxnLst>
    <dgm:cxn modelId="{76B1D603-37FC-4D7D-AE35-933A8C6A6D41}" type="presOf" srcId="{CB8D37DB-F44F-4889-BC4E-79512C6918A8}" destId="{2B15769D-A215-4944-B9D9-7121411290BD}" srcOrd="1" destOrd="0" presId="urn:microsoft.com/office/officeart/2005/8/layout/cycle2"/>
    <dgm:cxn modelId="{AB7CDA07-84B4-49BA-8D4E-344B5795437F}" type="presOf" srcId="{CB8D37DB-F44F-4889-BC4E-79512C6918A8}" destId="{04C897AF-B4E5-4706-B441-4BA438A0401A}" srcOrd="0" destOrd="0" presId="urn:microsoft.com/office/officeart/2005/8/layout/cycle2"/>
    <dgm:cxn modelId="{585F6D0A-845F-4E55-BE38-BC0A20F247DC}" type="presOf" srcId="{B0F17A2A-410C-4CC9-BC84-22B525B5072F}" destId="{FAB25FB8-FDA7-4028-A2B0-A4393908FBFC}" srcOrd="0" destOrd="0" presId="urn:microsoft.com/office/officeart/2005/8/layout/cycle2"/>
    <dgm:cxn modelId="{30907C0B-5489-4B82-977C-A136A2C52B62}" type="presOf" srcId="{0DDAD3D6-B4BE-4BF8-8328-54BF9F76032F}" destId="{701943EB-36FF-4883-BCA0-D2F5A4D7C56F}" srcOrd="0" destOrd="0" presId="urn:microsoft.com/office/officeart/2005/8/layout/cycle2"/>
    <dgm:cxn modelId="{1F730A24-3BD9-4BBC-8A66-9BAC2A9AD6AB}" type="presOf" srcId="{9940F8C1-4985-4B87-97B4-21CCB5A01423}" destId="{2298701A-B582-4F11-80D0-9E0B4744B5DA}" srcOrd="0" destOrd="0" presId="urn:microsoft.com/office/officeart/2005/8/layout/cycle2"/>
    <dgm:cxn modelId="{99E03A39-D364-49EC-8D56-54A6BA80F4C4}" srcId="{9940F8C1-4985-4B87-97B4-21CCB5A01423}" destId="{09DB7239-BCF6-468A-9450-84C3E918F506}" srcOrd="3" destOrd="0" parTransId="{E0F0A778-F09F-4816-B979-661BCAA3C76C}" sibTransId="{85D4C725-1098-4D04-BB88-60A5F7C27A28}"/>
    <dgm:cxn modelId="{7BD8E862-2554-49AB-8F44-8CFA830AE114}" type="presOf" srcId="{94E29B18-B5E2-4789-AF2F-5BF896E89654}" destId="{A12104CA-48C9-402F-8D88-0A20EA96CFFA}" srcOrd="1" destOrd="0" presId="urn:microsoft.com/office/officeart/2005/8/layout/cycle2"/>
    <dgm:cxn modelId="{A912BC64-E186-4155-97B9-85E045DD7DCC}" type="presOf" srcId="{2560AAD0-2995-4174-9B92-68E27315A993}" destId="{06C12763-8759-4ECC-A6F5-FD5D6160AA6B}" srcOrd="0" destOrd="0" presId="urn:microsoft.com/office/officeart/2005/8/layout/cycle2"/>
    <dgm:cxn modelId="{17DA2870-A5A1-4011-BEBD-0D13A6042D87}" srcId="{9940F8C1-4985-4B87-97B4-21CCB5A01423}" destId="{93E94E6D-FF95-4ACC-8939-834F6FEF5F43}" srcOrd="1" destOrd="0" parTransId="{5E8BF01B-C148-43C7-A00B-CD24377EFF7B}" sibTransId="{9FE98D69-41F5-47C2-9467-40F93789565D}"/>
    <dgm:cxn modelId="{5BAE7553-735C-48CE-AEC9-D822E13D119B}" srcId="{9940F8C1-4985-4B87-97B4-21CCB5A01423}" destId="{7B74786D-758C-400D-9F82-3C45259A2E73}" srcOrd="5" destOrd="0" parTransId="{CE01C2E2-4339-4230-8970-9E99E0DBFD3A}" sibTransId="{CB8D37DB-F44F-4889-BC4E-79512C6918A8}"/>
    <dgm:cxn modelId="{1D09D17B-C44A-484C-9F49-A02B468AA371}" type="presOf" srcId="{09DB7239-BCF6-468A-9450-84C3E918F506}" destId="{B497CCE3-FFF0-4995-B9A9-E65E75CC0BFB}" srcOrd="0" destOrd="0" presId="urn:microsoft.com/office/officeart/2005/8/layout/cycle2"/>
    <dgm:cxn modelId="{7B5BBD80-64FD-43F8-A73D-88D2B0178875}" srcId="{9940F8C1-4985-4B87-97B4-21CCB5A01423}" destId="{0DDAD3D6-B4BE-4BF8-8328-54BF9F76032F}" srcOrd="2" destOrd="0" parTransId="{D50999C0-16BE-4963-8F9E-17F57D05CF56}" sibTransId="{DD26D33A-6EA9-41AC-9557-B8A64CAFE796}"/>
    <dgm:cxn modelId="{28FFF781-9D52-4BC6-A6D6-4118D5BA1C14}" type="presOf" srcId="{94E29B18-B5E2-4789-AF2F-5BF896E89654}" destId="{53F28560-590C-4039-BFA4-4980EDD3E1B2}" srcOrd="0" destOrd="0" presId="urn:microsoft.com/office/officeart/2005/8/layout/cycle2"/>
    <dgm:cxn modelId="{CE44898D-EEFF-4467-8F96-5B10974D9788}" type="presOf" srcId="{93E94E6D-FF95-4ACC-8939-834F6FEF5F43}" destId="{30989CC1-BCDE-4550-A8D2-ED13CC576C39}" srcOrd="0" destOrd="0" presId="urn:microsoft.com/office/officeart/2005/8/layout/cycle2"/>
    <dgm:cxn modelId="{78569B8E-211B-4691-8F4E-905AD52F29E2}" type="presOf" srcId="{9FE98D69-41F5-47C2-9467-40F93789565D}" destId="{A7178A9D-A498-4E88-B683-73FCF37B27C8}" srcOrd="0" destOrd="0" presId="urn:microsoft.com/office/officeart/2005/8/layout/cycle2"/>
    <dgm:cxn modelId="{BF00E78F-0B2F-4C05-9268-A0F8B21E895C}" type="presOf" srcId="{7B74786D-758C-400D-9F82-3C45259A2E73}" destId="{5CF68679-4D1F-4A0E-9C8D-701417C40528}" srcOrd="0" destOrd="0" presId="urn:microsoft.com/office/officeart/2005/8/layout/cycle2"/>
    <dgm:cxn modelId="{E05C869A-FC97-4E7B-A663-18405CB9D585}" srcId="{9940F8C1-4985-4B87-97B4-21CCB5A01423}" destId="{FE6EC5CC-39B3-4AA5-A26C-04584C94B7CF}" srcOrd="4" destOrd="0" parTransId="{1C5A93B1-3037-441B-8DCD-9690FB5C26A6}" sibTransId="{94E29B18-B5E2-4789-AF2F-5BF896E89654}"/>
    <dgm:cxn modelId="{6FDA76A6-029E-4BC8-99F5-B8746EF71FD1}" type="presOf" srcId="{85D4C725-1098-4D04-BB88-60A5F7C27A28}" destId="{941C5006-AEA4-4910-AE90-996294DABB75}" srcOrd="0" destOrd="0" presId="urn:microsoft.com/office/officeart/2005/8/layout/cycle2"/>
    <dgm:cxn modelId="{A7577DA6-B614-4CD0-AB16-B86368AC8609}" type="presOf" srcId="{DD26D33A-6EA9-41AC-9557-B8A64CAFE796}" destId="{884CA8AA-F527-45C6-8D23-BBD38F2979BE}" srcOrd="0" destOrd="0" presId="urn:microsoft.com/office/officeart/2005/8/layout/cycle2"/>
    <dgm:cxn modelId="{97C88DB3-49D7-4167-93C0-25920F83DDB8}" type="presOf" srcId="{DD26D33A-6EA9-41AC-9557-B8A64CAFE796}" destId="{8A8782E5-D6D3-4F4D-A77D-2FCA81A347C2}" srcOrd="1" destOrd="0" presId="urn:microsoft.com/office/officeart/2005/8/layout/cycle2"/>
    <dgm:cxn modelId="{D663CFB6-D1F2-493F-A768-FF0C7A4917AD}" type="presOf" srcId="{9FE98D69-41F5-47C2-9467-40F93789565D}" destId="{04E0F541-D999-4A2B-A8FC-D3721DEDD818}" srcOrd="1" destOrd="0" presId="urn:microsoft.com/office/officeart/2005/8/layout/cycle2"/>
    <dgm:cxn modelId="{67E128C2-4F7C-4BF3-B5EC-B8A22BD988AB}" srcId="{9940F8C1-4985-4B87-97B4-21CCB5A01423}" destId="{B0F17A2A-410C-4CC9-BC84-22B525B5072F}" srcOrd="0" destOrd="0" parTransId="{6927221E-FB0F-4C98-8BBB-2D5042DF793C}" sibTransId="{2560AAD0-2995-4174-9B92-68E27315A993}"/>
    <dgm:cxn modelId="{E0AA85CC-C53A-41E7-A816-74484E19D0B7}" type="presOf" srcId="{FE6EC5CC-39B3-4AA5-A26C-04584C94B7CF}" destId="{917B8882-0258-4734-AF61-A862F67EEA68}" srcOrd="0" destOrd="0" presId="urn:microsoft.com/office/officeart/2005/8/layout/cycle2"/>
    <dgm:cxn modelId="{9F3981E3-CFA9-4FC8-8609-63BE1B8C4DC3}" type="presOf" srcId="{2560AAD0-2995-4174-9B92-68E27315A993}" destId="{A8708132-8B9E-4008-B8DF-80AC9EA44C47}" srcOrd="1" destOrd="0" presId="urn:microsoft.com/office/officeart/2005/8/layout/cycle2"/>
    <dgm:cxn modelId="{498FDFF4-0DE3-427C-8EE3-50A4EF59D8E0}" type="presOf" srcId="{85D4C725-1098-4D04-BB88-60A5F7C27A28}" destId="{0A5B97E3-F627-42BD-88EB-FBD5D1B81B7D}" srcOrd="1" destOrd="0" presId="urn:microsoft.com/office/officeart/2005/8/layout/cycle2"/>
    <dgm:cxn modelId="{2EC7F357-B270-4054-94B1-D103E6B197A3}" type="presParOf" srcId="{2298701A-B582-4F11-80D0-9E0B4744B5DA}" destId="{FAB25FB8-FDA7-4028-A2B0-A4393908FBFC}" srcOrd="0" destOrd="0" presId="urn:microsoft.com/office/officeart/2005/8/layout/cycle2"/>
    <dgm:cxn modelId="{EA5D557A-4618-4498-9DFB-0D5A7B89ACA9}" type="presParOf" srcId="{2298701A-B582-4F11-80D0-9E0B4744B5DA}" destId="{06C12763-8759-4ECC-A6F5-FD5D6160AA6B}" srcOrd="1" destOrd="0" presId="urn:microsoft.com/office/officeart/2005/8/layout/cycle2"/>
    <dgm:cxn modelId="{BEBE060E-B021-4C9D-AB4F-02EC31CD8292}" type="presParOf" srcId="{06C12763-8759-4ECC-A6F5-FD5D6160AA6B}" destId="{A8708132-8B9E-4008-B8DF-80AC9EA44C47}" srcOrd="0" destOrd="0" presId="urn:microsoft.com/office/officeart/2005/8/layout/cycle2"/>
    <dgm:cxn modelId="{598CFC8E-613A-4C01-BEF8-32E32A9568DB}" type="presParOf" srcId="{2298701A-B582-4F11-80D0-9E0B4744B5DA}" destId="{30989CC1-BCDE-4550-A8D2-ED13CC576C39}" srcOrd="2" destOrd="0" presId="urn:microsoft.com/office/officeart/2005/8/layout/cycle2"/>
    <dgm:cxn modelId="{B1F17DCB-F276-406B-92B7-15B49724958A}" type="presParOf" srcId="{2298701A-B582-4F11-80D0-9E0B4744B5DA}" destId="{A7178A9D-A498-4E88-B683-73FCF37B27C8}" srcOrd="3" destOrd="0" presId="urn:microsoft.com/office/officeart/2005/8/layout/cycle2"/>
    <dgm:cxn modelId="{4EE35F26-893F-4EAC-BD7B-60B93EFEA512}" type="presParOf" srcId="{A7178A9D-A498-4E88-B683-73FCF37B27C8}" destId="{04E0F541-D999-4A2B-A8FC-D3721DEDD818}" srcOrd="0" destOrd="0" presId="urn:microsoft.com/office/officeart/2005/8/layout/cycle2"/>
    <dgm:cxn modelId="{DFF776A3-2C6E-4F4F-9741-81994BAF6CF5}" type="presParOf" srcId="{2298701A-B582-4F11-80D0-9E0B4744B5DA}" destId="{701943EB-36FF-4883-BCA0-D2F5A4D7C56F}" srcOrd="4" destOrd="0" presId="urn:microsoft.com/office/officeart/2005/8/layout/cycle2"/>
    <dgm:cxn modelId="{276A4F28-C12B-4E50-A7DC-A485BAF91CEB}" type="presParOf" srcId="{2298701A-B582-4F11-80D0-9E0B4744B5DA}" destId="{884CA8AA-F527-45C6-8D23-BBD38F2979BE}" srcOrd="5" destOrd="0" presId="urn:microsoft.com/office/officeart/2005/8/layout/cycle2"/>
    <dgm:cxn modelId="{6C3939F3-CD4A-47E3-913A-7681BDE8DA4F}" type="presParOf" srcId="{884CA8AA-F527-45C6-8D23-BBD38F2979BE}" destId="{8A8782E5-D6D3-4F4D-A77D-2FCA81A347C2}" srcOrd="0" destOrd="0" presId="urn:microsoft.com/office/officeart/2005/8/layout/cycle2"/>
    <dgm:cxn modelId="{BC43B129-92AF-4816-B2FE-830F0100225E}" type="presParOf" srcId="{2298701A-B582-4F11-80D0-9E0B4744B5DA}" destId="{B497CCE3-FFF0-4995-B9A9-E65E75CC0BFB}" srcOrd="6" destOrd="0" presId="urn:microsoft.com/office/officeart/2005/8/layout/cycle2"/>
    <dgm:cxn modelId="{BB4BD9AB-4C1A-4D95-B617-C38D6CB40AF9}" type="presParOf" srcId="{2298701A-B582-4F11-80D0-9E0B4744B5DA}" destId="{941C5006-AEA4-4910-AE90-996294DABB75}" srcOrd="7" destOrd="0" presId="urn:microsoft.com/office/officeart/2005/8/layout/cycle2"/>
    <dgm:cxn modelId="{1D7C4627-F1C5-4DBD-B6C7-39A2C1459FCF}" type="presParOf" srcId="{941C5006-AEA4-4910-AE90-996294DABB75}" destId="{0A5B97E3-F627-42BD-88EB-FBD5D1B81B7D}" srcOrd="0" destOrd="0" presId="urn:microsoft.com/office/officeart/2005/8/layout/cycle2"/>
    <dgm:cxn modelId="{DA399A3D-F6C2-48B6-A856-8DA11B282418}" type="presParOf" srcId="{2298701A-B582-4F11-80D0-9E0B4744B5DA}" destId="{917B8882-0258-4734-AF61-A862F67EEA68}" srcOrd="8" destOrd="0" presId="urn:microsoft.com/office/officeart/2005/8/layout/cycle2"/>
    <dgm:cxn modelId="{CD01AC44-7477-41E3-9242-E90E0E5CE5F2}" type="presParOf" srcId="{2298701A-B582-4F11-80D0-9E0B4744B5DA}" destId="{53F28560-590C-4039-BFA4-4980EDD3E1B2}" srcOrd="9" destOrd="0" presId="urn:microsoft.com/office/officeart/2005/8/layout/cycle2"/>
    <dgm:cxn modelId="{63D83675-6EF7-44B9-98DE-AB7150107205}" type="presParOf" srcId="{53F28560-590C-4039-BFA4-4980EDD3E1B2}" destId="{A12104CA-48C9-402F-8D88-0A20EA96CFFA}" srcOrd="0" destOrd="0" presId="urn:microsoft.com/office/officeart/2005/8/layout/cycle2"/>
    <dgm:cxn modelId="{A331DAF8-B34D-40BB-9714-A4730825B2ED}" type="presParOf" srcId="{2298701A-B582-4F11-80D0-9E0B4744B5DA}" destId="{5CF68679-4D1F-4A0E-9C8D-701417C40528}" srcOrd="10" destOrd="0" presId="urn:microsoft.com/office/officeart/2005/8/layout/cycle2"/>
    <dgm:cxn modelId="{A1CA4D5B-67B8-4376-A510-A8F59084F86E}" type="presParOf" srcId="{2298701A-B582-4F11-80D0-9E0B4744B5DA}" destId="{04C897AF-B4E5-4706-B441-4BA438A0401A}" srcOrd="11" destOrd="0" presId="urn:microsoft.com/office/officeart/2005/8/layout/cycle2"/>
    <dgm:cxn modelId="{E1EBBDC6-591C-4FCB-BB63-E1A4EC637D8D}" type="presParOf" srcId="{04C897AF-B4E5-4706-B441-4BA438A0401A}" destId="{2B15769D-A215-4944-B9D9-7121411290BD}"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FD2269-5710-46B0-835A-F447994750DC}" type="doc">
      <dgm:prSet loTypeId="urn:microsoft.com/office/officeart/2005/8/layout/pyramid2" loCatId="pyramid" qsTypeId="urn:microsoft.com/office/officeart/2005/8/quickstyle/simple1" qsCatId="simple" csTypeId="urn:microsoft.com/office/officeart/2005/8/colors/accent1_2" csCatId="accent1"/>
      <dgm:spPr/>
      <dgm:t>
        <a:bodyPr/>
        <a:lstStyle/>
        <a:p>
          <a:endParaRPr lang="en-IN"/>
        </a:p>
      </dgm:t>
    </dgm:pt>
    <dgm:pt modelId="{9FC944EE-92DC-40C3-8C64-5DB40510222E}">
      <dgm:prSet custT="1"/>
      <dgm:spPr/>
      <dgm:t>
        <a:bodyPr/>
        <a:lstStyle/>
        <a:p>
          <a:r>
            <a:rPr lang="en-US" sz="2800" b="1" dirty="0">
              <a:latin typeface="Times New Roman" panose="02020603050405020304" pitchFamily="18" charset="0"/>
              <a:cs typeface="Times New Roman" panose="02020603050405020304" pitchFamily="18" charset="0"/>
            </a:rPr>
            <a:t>Advantages:</a:t>
          </a:r>
          <a:endParaRPr lang="en-IN" sz="2800" dirty="0">
            <a:latin typeface="Times New Roman" panose="02020603050405020304" pitchFamily="18" charset="0"/>
            <a:cs typeface="Times New Roman" panose="02020603050405020304" pitchFamily="18" charset="0"/>
          </a:endParaRPr>
        </a:p>
      </dgm:t>
    </dgm:pt>
    <dgm:pt modelId="{BF4DB628-37D3-429D-9C7E-DFB1A484AB41}" type="parTrans" cxnId="{F7CB1C30-6789-4F93-B6A4-43A8839943FA}">
      <dgm:prSet/>
      <dgm:spPr/>
      <dgm:t>
        <a:bodyPr/>
        <a:lstStyle/>
        <a:p>
          <a:endParaRPr lang="en-IN"/>
        </a:p>
      </dgm:t>
    </dgm:pt>
    <dgm:pt modelId="{F7E4EB1B-88DD-46EC-8EB8-0774B57DFE7C}" type="sibTrans" cxnId="{F7CB1C30-6789-4F93-B6A4-43A8839943FA}">
      <dgm:prSet/>
      <dgm:spPr/>
      <dgm:t>
        <a:bodyPr/>
        <a:lstStyle/>
        <a:p>
          <a:endParaRPr lang="en-IN"/>
        </a:p>
      </dgm:t>
    </dgm:pt>
    <dgm:pt modelId="{5714C2EF-A6D8-4E78-903D-62A8E907BD87}">
      <dgm:prSet/>
      <dgm:spPr/>
      <dgm:t>
        <a:bodyPr/>
        <a:lstStyle/>
        <a:p>
          <a:r>
            <a:rPr lang="en-US" dirty="0">
              <a:latin typeface="Times New Roman" panose="02020603050405020304" pitchFamily="18" charset="0"/>
              <a:cs typeface="Times New Roman" panose="02020603050405020304" pitchFamily="18" charset="0"/>
            </a:rPr>
            <a:t>Real-time data syncing, highly responsive UI, and zero server maintenance cost (Serverless).</a:t>
          </a:r>
          <a:endParaRPr lang="en-IN" dirty="0">
            <a:latin typeface="Times New Roman" panose="02020603050405020304" pitchFamily="18" charset="0"/>
            <a:cs typeface="Times New Roman" panose="02020603050405020304" pitchFamily="18" charset="0"/>
          </a:endParaRPr>
        </a:p>
      </dgm:t>
    </dgm:pt>
    <dgm:pt modelId="{182CE009-F126-4CA0-9BF8-94DF3593523C}" type="parTrans" cxnId="{4940FEF7-C483-4B68-AB4A-726770D26EF9}">
      <dgm:prSet/>
      <dgm:spPr/>
      <dgm:t>
        <a:bodyPr/>
        <a:lstStyle/>
        <a:p>
          <a:endParaRPr lang="en-IN"/>
        </a:p>
      </dgm:t>
    </dgm:pt>
    <dgm:pt modelId="{BC47CC52-5579-4821-9F28-3999D61F6492}" type="sibTrans" cxnId="{4940FEF7-C483-4B68-AB4A-726770D26EF9}">
      <dgm:prSet/>
      <dgm:spPr/>
      <dgm:t>
        <a:bodyPr/>
        <a:lstStyle/>
        <a:p>
          <a:endParaRPr lang="en-IN"/>
        </a:p>
      </dgm:t>
    </dgm:pt>
    <dgm:pt modelId="{DCFF24E8-EFB0-4846-8009-E47057C4E4EB}">
      <dgm:prSet custT="1"/>
      <dgm:spPr/>
      <dgm:t>
        <a:bodyPr/>
        <a:lstStyle/>
        <a:p>
          <a:r>
            <a:rPr lang="en-IN" sz="2800" b="1" dirty="0">
              <a:latin typeface="Times New Roman" panose="02020603050405020304" pitchFamily="18" charset="0"/>
              <a:cs typeface="Times New Roman" panose="02020603050405020304" pitchFamily="18" charset="0"/>
            </a:rPr>
            <a:t>Limitations:</a:t>
          </a:r>
          <a:endParaRPr lang="en-IN" sz="2800" dirty="0">
            <a:latin typeface="Times New Roman" panose="02020603050405020304" pitchFamily="18" charset="0"/>
            <a:cs typeface="Times New Roman" panose="02020603050405020304" pitchFamily="18" charset="0"/>
          </a:endParaRPr>
        </a:p>
      </dgm:t>
    </dgm:pt>
    <dgm:pt modelId="{B8C966C1-7350-4EC1-90B1-4C41D8662D40}" type="parTrans" cxnId="{E5ABF000-0D11-41CD-8675-E91D1474B2FA}">
      <dgm:prSet/>
      <dgm:spPr/>
      <dgm:t>
        <a:bodyPr/>
        <a:lstStyle/>
        <a:p>
          <a:endParaRPr lang="en-IN"/>
        </a:p>
      </dgm:t>
    </dgm:pt>
    <dgm:pt modelId="{3235241A-D417-4870-BD61-C95D69177694}" type="sibTrans" cxnId="{E5ABF000-0D11-41CD-8675-E91D1474B2FA}">
      <dgm:prSet/>
      <dgm:spPr/>
      <dgm:t>
        <a:bodyPr/>
        <a:lstStyle/>
        <a:p>
          <a:endParaRPr lang="en-IN"/>
        </a:p>
      </dgm:t>
    </dgm:pt>
    <dgm:pt modelId="{22E109FE-F8C4-4449-A227-9F7A63BCF205}">
      <dgm:prSet/>
      <dgm:spPr/>
      <dgm:t>
        <a:bodyPr/>
        <a:lstStyle/>
        <a:p>
          <a:r>
            <a:rPr lang="en-IN" dirty="0">
              <a:latin typeface="Times New Roman" panose="02020603050405020304" pitchFamily="18" charset="0"/>
              <a:cs typeface="Times New Roman" panose="02020603050405020304" pitchFamily="18" charset="0"/>
            </a:rPr>
            <a:t>Requires an active internet connection for database submission.</a:t>
          </a:r>
        </a:p>
      </dgm:t>
    </dgm:pt>
    <dgm:pt modelId="{A4105A1A-3160-4952-BCC2-C8C64832E234}" type="parTrans" cxnId="{D1739E23-773E-47E1-A396-26152A7F07DC}">
      <dgm:prSet/>
      <dgm:spPr/>
      <dgm:t>
        <a:bodyPr/>
        <a:lstStyle/>
        <a:p>
          <a:endParaRPr lang="en-IN"/>
        </a:p>
      </dgm:t>
    </dgm:pt>
    <dgm:pt modelId="{5056B922-9EAC-4A24-AF17-BE4D8F810496}" type="sibTrans" cxnId="{D1739E23-773E-47E1-A396-26152A7F07DC}">
      <dgm:prSet/>
      <dgm:spPr/>
      <dgm:t>
        <a:bodyPr/>
        <a:lstStyle/>
        <a:p>
          <a:endParaRPr lang="en-IN"/>
        </a:p>
      </dgm:t>
    </dgm:pt>
    <dgm:pt modelId="{2BBDCC97-A742-44DA-A7BD-E4FC9FF73DF7}" type="pres">
      <dgm:prSet presAssocID="{4BFD2269-5710-46B0-835A-F447994750DC}" presName="compositeShape" presStyleCnt="0">
        <dgm:presLayoutVars>
          <dgm:dir/>
          <dgm:resizeHandles/>
        </dgm:presLayoutVars>
      </dgm:prSet>
      <dgm:spPr/>
    </dgm:pt>
    <dgm:pt modelId="{BC30186B-9244-4EDC-AA97-EE5C8DB64F5F}" type="pres">
      <dgm:prSet presAssocID="{4BFD2269-5710-46B0-835A-F447994750DC}" presName="pyramid" presStyleLbl="node1" presStyleIdx="0" presStyleCnt="1"/>
      <dgm:spPr/>
    </dgm:pt>
    <dgm:pt modelId="{F693353D-E2B9-4B93-83A9-BA7A7174F4E6}" type="pres">
      <dgm:prSet presAssocID="{4BFD2269-5710-46B0-835A-F447994750DC}" presName="theList" presStyleCnt="0"/>
      <dgm:spPr/>
    </dgm:pt>
    <dgm:pt modelId="{A328EF2D-3423-4771-8811-FBD5E46E254F}" type="pres">
      <dgm:prSet presAssocID="{9FC944EE-92DC-40C3-8C64-5DB40510222E}" presName="aNode" presStyleLbl="fgAcc1" presStyleIdx="0" presStyleCnt="4">
        <dgm:presLayoutVars>
          <dgm:bulletEnabled val="1"/>
        </dgm:presLayoutVars>
      </dgm:prSet>
      <dgm:spPr/>
    </dgm:pt>
    <dgm:pt modelId="{EA93723B-99EB-4BCF-91C9-9DED88498171}" type="pres">
      <dgm:prSet presAssocID="{9FC944EE-92DC-40C3-8C64-5DB40510222E}" presName="aSpace" presStyleCnt="0"/>
      <dgm:spPr/>
    </dgm:pt>
    <dgm:pt modelId="{590E2CFF-FC67-42F1-AEF2-B90E05683A5E}" type="pres">
      <dgm:prSet presAssocID="{5714C2EF-A6D8-4E78-903D-62A8E907BD87}" presName="aNode" presStyleLbl="fgAcc1" presStyleIdx="1" presStyleCnt="4">
        <dgm:presLayoutVars>
          <dgm:bulletEnabled val="1"/>
        </dgm:presLayoutVars>
      </dgm:prSet>
      <dgm:spPr/>
    </dgm:pt>
    <dgm:pt modelId="{F17C023D-50F1-4800-A192-EC52D7568C3D}" type="pres">
      <dgm:prSet presAssocID="{5714C2EF-A6D8-4E78-903D-62A8E907BD87}" presName="aSpace" presStyleCnt="0"/>
      <dgm:spPr/>
    </dgm:pt>
    <dgm:pt modelId="{9D460421-9D93-4B55-896A-7F6A14C31468}" type="pres">
      <dgm:prSet presAssocID="{DCFF24E8-EFB0-4846-8009-E47057C4E4EB}" presName="aNode" presStyleLbl="fgAcc1" presStyleIdx="2" presStyleCnt="4">
        <dgm:presLayoutVars>
          <dgm:bulletEnabled val="1"/>
        </dgm:presLayoutVars>
      </dgm:prSet>
      <dgm:spPr/>
    </dgm:pt>
    <dgm:pt modelId="{9ABDD9AA-3A07-4441-91AD-DF48404B202A}" type="pres">
      <dgm:prSet presAssocID="{DCFF24E8-EFB0-4846-8009-E47057C4E4EB}" presName="aSpace" presStyleCnt="0"/>
      <dgm:spPr/>
    </dgm:pt>
    <dgm:pt modelId="{F35E825A-DBF6-461A-9EBD-7362205E9DC1}" type="pres">
      <dgm:prSet presAssocID="{22E109FE-F8C4-4449-A227-9F7A63BCF205}" presName="aNode" presStyleLbl="fgAcc1" presStyleIdx="3" presStyleCnt="4">
        <dgm:presLayoutVars>
          <dgm:bulletEnabled val="1"/>
        </dgm:presLayoutVars>
      </dgm:prSet>
      <dgm:spPr/>
    </dgm:pt>
    <dgm:pt modelId="{247D8F07-9F3B-4DA1-AD35-DBEDB1012AED}" type="pres">
      <dgm:prSet presAssocID="{22E109FE-F8C4-4449-A227-9F7A63BCF205}" presName="aSpace" presStyleCnt="0"/>
      <dgm:spPr/>
    </dgm:pt>
  </dgm:ptLst>
  <dgm:cxnLst>
    <dgm:cxn modelId="{E5ABF000-0D11-41CD-8675-E91D1474B2FA}" srcId="{4BFD2269-5710-46B0-835A-F447994750DC}" destId="{DCFF24E8-EFB0-4846-8009-E47057C4E4EB}" srcOrd="2" destOrd="0" parTransId="{B8C966C1-7350-4EC1-90B1-4C41D8662D40}" sibTransId="{3235241A-D417-4870-BD61-C95D69177694}"/>
    <dgm:cxn modelId="{8C7DF402-3D85-4AEC-8706-CFDC463F30A4}" type="presOf" srcId="{22E109FE-F8C4-4449-A227-9F7A63BCF205}" destId="{F35E825A-DBF6-461A-9EBD-7362205E9DC1}" srcOrd="0" destOrd="0" presId="urn:microsoft.com/office/officeart/2005/8/layout/pyramid2"/>
    <dgm:cxn modelId="{D1739E23-773E-47E1-A396-26152A7F07DC}" srcId="{4BFD2269-5710-46B0-835A-F447994750DC}" destId="{22E109FE-F8C4-4449-A227-9F7A63BCF205}" srcOrd="3" destOrd="0" parTransId="{A4105A1A-3160-4952-BCC2-C8C64832E234}" sibTransId="{5056B922-9EAC-4A24-AF17-BE4D8F810496}"/>
    <dgm:cxn modelId="{F7CB1C30-6789-4F93-B6A4-43A8839943FA}" srcId="{4BFD2269-5710-46B0-835A-F447994750DC}" destId="{9FC944EE-92DC-40C3-8C64-5DB40510222E}" srcOrd="0" destOrd="0" parTransId="{BF4DB628-37D3-429D-9C7E-DFB1A484AB41}" sibTransId="{F7E4EB1B-88DD-46EC-8EB8-0774B57DFE7C}"/>
    <dgm:cxn modelId="{43AE2542-0A1F-459F-8E9D-A18DF0E0E3EE}" type="presOf" srcId="{4BFD2269-5710-46B0-835A-F447994750DC}" destId="{2BBDCC97-A742-44DA-A7BD-E4FC9FF73DF7}" srcOrd="0" destOrd="0" presId="urn:microsoft.com/office/officeart/2005/8/layout/pyramid2"/>
    <dgm:cxn modelId="{4FDB1254-A79E-4E15-B43A-E23477385F73}" type="presOf" srcId="{5714C2EF-A6D8-4E78-903D-62A8E907BD87}" destId="{590E2CFF-FC67-42F1-AEF2-B90E05683A5E}" srcOrd="0" destOrd="0" presId="urn:microsoft.com/office/officeart/2005/8/layout/pyramid2"/>
    <dgm:cxn modelId="{C5EF3955-C5A4-439F-8DA4-DF49A9F7B48F}" type="presOf" srcId="{DCFF24E8-EFB0-4846-8009-E47057C4E4EB}" destId="{9D460421-9D93-4B55-896A-7F6A14C31468}" srcOrd="0" destOrd="0" presId="urn:microsoft.com/office/officeart/2005/8/layout/pyramid2"/>
    <dgm:cxn modelId="{46BF2D84-E0AD-4CD5-B4E2-CD25DCAAA941}" type="presOf" srcId="{9FC944EE-92DC-40C3-8C64-5DB40510222E}" destId="{A328EF2D-3423-4771-8811-FBD5E46E254F}" srcOrd="0" destOrd="0" presId="urn:microsoft.com/office/officeart/2005/8/layout/pyramid2"/>
    <dgm:cxn modelId="{4940FEF7-C483-4B68-AB4A-726770D26EF9}" srcId="{4BFD2269-5710-46B0-835A-F447994750DC}" destId="{5714C2EF-A6D8-4E78-903D-62A8E907BD87}" srcOrd="1" destOrd="0" parTransId="{182CE009-F126-4CA0-9BF8-94DF3593523C}" sibTransId="{BC47CC52-5579-4821-9F28-3999D61F6492}"/>
    <dgm:cxn modelId="{C7379CB0-7DB2-42A1-BEB6-81C319BA3D61}" type="presParOf" srcId="{2BBDCC97-A742-44DA-A7BD-E4FC9FF73DF7}" destId="{BC30186B-9244-4EDC-AA97-EE5C8DB64F5F}" srcOrd="0" destOrd="0" presId="urn:microsoft.com/office/officeart/2005/8/layout/pyramid2"/>
    <dgm:cxn modelId="{89CED865-4089-4A0A-B556-5858AB9C822C}" type="presParOf" srcId="{2BBDCC97-A742-44DA-A7BD-E4FC9FF73DF7}" destId="{F693353D-E2B9-4B93-83A9-BA7A7174F4E6}" srcOrd="1" destOrd="0" presId="urn:microsoft.com/office/officeart/2005/8/layout/pyramid2"/>
    <dgm:cxn modelId="{B081CD27-8BB9-4D44-8D46-8478EAC6D152}" type="presParOf" srcId="{F693353D-E2B9-4B93-83A9-BA7A7174F4E6}" destId="{A328EF2D-3423-4771-8811-FBD5E46E254F}" srcOrd="0" destOrd="0" presId="urn:microsoft.com/office/officeart/2005/8/layout/pyramid2"/>
    <dgm:cxn modelId="{DA525A23-B1A3-45B6-BA3E-F705FD04829B}" type="presParOf" srcId="{F693353D-E2B9-4B93-83A9-BA7A7174F4E6}" destId="{EA93723B-99EB-4BCF-91C9-9DED88498171}" srcOrd="1" destOrd="0" presId="urn:microsoft.com/office/officeart/2005/8/layout/pyramid2"/>
    <dgm:cxn modelId="{912B7494-A6AF-40F9-B970-F3EFD34B04AD}" type="presParOf" srcId="{F693353D-E2B9-4B93-83A9-BA7A7174F4E6}" destId="{590E2CFF-FC67-42F1-AEF2-B90E05683A5E}" srcOrd="2" destOrd="0" presId="urn:microsoft.com/office/officeart/2005/8/layout/pyramid2"/>
    <dgm:cxn modelId="{B30E1F6B-57B7-4A7C-9FEA-B95FD49DD36E}" type="presParOf" srcId="{F693353D-E2B9-4B93-83A9-BA7A7174F4E6}" destId="{F17C023D-50F1-4800-A192-EC52D7568C3D}" srcOrd="3" destOrd="0" presId="urn:microsoft.com/office/officeart/2005/8/layout/pyramid2"/>
    <dgm:cxn modelId="{D83DBF3C-C95E-4F50-8F45-D08FB8A30A3D}" type="presParOf" srcId="{F693353D-E2B9-4B93-83A9-BA7A7174F4E6}" destId="{9D460421-9D93-4B55-896A-7F6A14C31468}" srcOrd="4" destOrd="0" presId="urn:microsoft.com/office/officeart/2005/8/layout/pyramid2"/>
    <dgm:cxn modelId="{21E5EE5B-CC39-4CAF-B568-789EA6D6BF5D}" type="presParOf" srcId="{F693353D-E2B9-4B93-83A9-BA7A7174F4E6}" destId="{9ABDD9AA-3A07-4441-91AD-DF48404B202A}" srcOrd="5" destOrd="0" presId="urn:microsoft.com/office/officeart/2005/8/layout/pyramid2"/>
    <dgm:cxn modelId="{85EED20F-B2F6-4CEF-A8BF-245B55B1D30E}" type="presParOf" srcId="{F693353D-E2B9-4B93-83A9-BA7A7174F4E6}" destId="{F35E825A-DBF6-461A-9EBD-7362205E9DC1}" srcOrd="6" destOrd="0" presId="urn:microsoft.com/office/officeart/2005/8/layout/pyramid2"/>
    <dgm:cxn modelId="{5CF30D02-8224-4237-B648-67645F3F879F}" type="presParOf" srcId="{F693353D-E2B9-4B93-83A9-BA7A7174F4E6}" destId="{247D8F07-9F3B-4DA1-AD35-DBEDB1012AED}" srcOrd="7" destOrd="0" presId="urn:microsoft.com/office/officeart/2005/8/layout/pyramid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B25FB8-FDA7-4028-A2B0-A4393908FBFC}">
      <dsp:nvSpPr>
        <dsp:cNvPr id="0" name=""/>
        <dsp:cNvSpPr/>
      </dsp:nvSpPr>
      <dsp:spPr>
        <a:xfrm>
          <a:off x="7202320" y="1498"/>
          <a:ext cx="2090021" cy="209002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a:t>Student Interaction:</a:t>
          </a:r>
          <a:r>
            <a:rPr lang="en-US" sz="1100" kern="1200"/>
            <a:t> The user enters data (Name, ID, Email) into the Vel Tech themed frontend</a:t>
          </a:r>
          <a:endParaRPr lang="en-IN" sz="1100" kern="1200"/>
        </a:p>
      </dsp:txBody>
      <dsp:txXfrm>
        <a:off x="7508396" y="307574"/>
        <a:ext cx="1477869" cy="1477869"/>
      </dsp:txXfrm>
    </dsp:sp>
    <dsp:sp modelId="{06C12763-8759-4ECC-A6F5-FD5D6160AA6B}">
      <dsp:nvSpPr>
        <dsp:cNvPr id="0" name=""/>
        <dsp:cNvSpPr/>
      </dsp:nvSpPr>
      <dsp:spPr>
        <a:xfrm rot="1800000">
          <a:off x="9315631" y="1471764"/>
          <a:ext cx="558282" cy="705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9326850" y="1570969"/>
        <a:ext cx="390797" cy="423230"/>
      </dsp:txXfrm>
    </dsp:sp>
    <dsp:sp modelId="{30989CC1-BCDE-4550-A8D2-ED13CC576C39}">
      <dsp:nvSpPr>
        <dsp:cNvPr id="0" name=""/>
        <dsp:cNvSpPr/>
      </dsp:nvSpPr>
      <dsp:spPr>
        <a:xfrm>
          <a:off x="9924571" y="1573191"/>
          <a:ext cx="2090021" cy="209002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a:t>Validation:</a:t>
          </a:r>
          <a:r>
            <a:rPr lang="en-US" sz="1100" kern="1200"/>
            <a:t> JavaScript (app.js) checks if all fields are filled and the email format is correct.</a:t>
          </a:r>
          <a:endParaRPr lang="en-IN" sz="1100" kern="1200"/>
        </a:p>
      </dsp:txBody>
      <dsp:txXfrm>
        <a:off x="10230647" y="1879267"/>
        <a:ext cx="1477869" cy="1477869"/>
      </dsp:txXfrm>
    </dsp:sp>
    <dsp:sp modelId="{A7178A9D-A498-4E88-B683-73FCF37B27C8}">
      <dsp:nvSpPr>
        <dsp:cNvPr id="0" name=""/>
        <dsp:cNvSpPr/>
      </dsp:nvSpPr>
      <dsp:spPr>
        <a:xfrm rot="5400000">
          <a:off x="10690441" y="3821403"/>
          <a:ext cx="558282" cy="705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10774184" y="3878737"/>
        <a:ext cx="390797" cy="423230"/>
      </dsp:txXfrm>
    </dsp:sp>
    <dsp:sp modelId="{701943EB-36FF-4883-BCA0-D2F5A4D7C56F}">
      <dsp:nvSpPr>
        <dsp:cNvPr id="0" name=""/>
        <dsp:cNvSpPr/>
      </dsp:nvSpPr>
      <dsp:spPr>
        <a:xfrm>
          <a:off x="9924571" y="4716577"/>
          <a:ext cx="2090021" cy="209002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a:t>Database Connection:</a:t>
          </a:r>
          <a:r>
            <a:rPr lang="en-US" sz="1100" kern="1200"/>
            <a:t> The Firebase SDK establishes a secure link using the provided apiKey and projectId</a:t>
          </a:r>
          <a:endParaRPr lang="en-IN" sz="1100" kern="1200"/>
        </a:p>
      </dsp:txBody>
      <dsp:txXfrm>
        <a:off x="10230647" y="5022653"/>
        <a:ext cx="1477869" cy="1477869"/>
      </dsp:txXfrm>
    </dsp:sp>
    <dsp:sp modelId="{884CA8AA-F527-45C6-8D23-BBD38F2979BE}">
      <dsp:nvSpPr>
        <dsp:cNvPr id="0" name=""/>
        <dsp:cNvSpPr/>
      </dsp:nvSpPr>
      <dsp:spPr>
        <a:xfrm rot="9000000">
          <a:off x="9342999" y="6186843"/>
          <a:ext cx="558282" cy="705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rot="10800000">
        <a:off x="9499265" y="6286048"/>
        <a:ext cx="390797" cy="423230"/>
      </dsp:txXfrm>
    </dsp:sp>
    <dsp:sp modelId="{B497CCE3-FFF0-4995-B9A9-E65E75CC0BFB}">
      <dsp:nvSpPr>
        <dsp:cNvPr id="0" name=""/>
        <dsp:cNvSpPr/>
      </dsp:nvSpPr>
      <dsp:spPr>
        <a:xfrm>
          <a:off x="7202320" y="6288270"/>
          <a:ext cx="2090021" cy="209002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a:t>Data Transmission:</a:t>
          </a:r>
          <a:r>
            <a:rPr lang="en-US" sz="1100" kern="1200"/>
            <a:t> The addDoc function sends the JSON object containing student details to the cloud</a:t>
          </a:r>
          <a:endParaRPr lang="en-IN" sz="1100" kern="1200"/>
        </a:p>
      </dsp:txBody>
      <dsp:txXfrm>
        <a:off x="7508396" y="6594346"/>
        <a:ext cx="1477869" cy="1477869"/>
      </dsp:txXfrm>
    </dsp:sp>
    <dsp:sp modelId="{941C5006-AEA4-4910-AE90-996294DABB75}">
      <dsp:nvSpPr>
        <dsp:cNvPr id="0" name=""/>
        <dsp:cNvSpPr/>
      </dsp:nvSpPr>
      <dsp:spPr>
        <a:xfrm rot="12600000">
          <a:off x="6620747" y="6202643"/>
          <a:ext cx="558282" cy="705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rot="10800000">
        <a:off x="6777013" y="6385590"/>
        <a:ext cx="390797" cy="423230"/>
      </dsp:txXfrm>
    </dsp:sp>
    <dsp:sp modelId="{917B8882-0258-4734-AF61-A862F67EEA68}">
      <dsp:nvSpPr>
        <dsp:cNvPr id="0" name=""/>
        <dsp:cNvSpPr/>
      </dsp:nvSpPr>
      <dsp:spPr>
        <a:xfrm>
          <a:off x="4480068" y="4716577"/>
          <a:ext cx="2090021" cy="209002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a:t>Cloud Storage:</a:t>
          </a:r>
          <a:r>
            <a:rPr lang="en-US" sz="1100" kern="1200"/>
            <a:t> Firebase Firestore receives the data and stores it in the vtu_event_registrations collection</a:t>
          </a:r>
          <a:endParaRPr lang="en-IN" sz="1100" kern="1200"/>
        </a:p>
      </dsp:txBody>
      <dsp:txXfrm>
        <a:off x="4786144" y="5022653"/>
        <a:ext cx="1477869" cy="1477869"/>
      </dsp:txXfrm>
    </dsp:sp>
    <dsp:sp modelId="{53F28560-590C-4039-BFA4-4980EDD3E1B2}">
      <dsp:nvSpPr>
        <dsp:cNvPr id="0" name=""/>
        <dsp:cNvSpPr/>
      </dsp:nvSpPr>
      <dsp:spPr>
        <a:xfrm rot="16200000">
          <a:off x="5245937" y="3853004"/>
          <a:ext cx="558282" cy="705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5329680" y="4077823"/>
        <a:ext cx="390797" cy="423230"/>
      </dsp:txXfrm>
    </dsp:sp>
    <dsp:sp modelId="{5CF68679-4D1F-4A0E-9C8D-701417C40528}">
      <dsp:nvSpPr>
        <dsp:cNvPr id="0" name=""/>
        <dsp:cNvSpPr/>
      </dsp:nvSpPr>
      <dsp:spPr>
        <a:xfrm>
          <a:off x="4480068" y="1573191"/>
          <a:ext cx="2090021" cy="209002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a:t>Acknowledgement:</a:t>
          </a:r>
          <a:r>
            <a:rPr lang="en-US" sz="1100" kern="1200"/>
            <a:t> The system returns a success Response (Document ID), and the frontend displays a "Registration Successful" alert to the student.</a:t>
          </a:r>
          <a:endParaRPr lang="en-IN" sz="1100" kern="1200"/>
        </a:p>
      </dsp:txBody>
      <dsp:txXfrm>
        <a:off x="4786144" y="1879267"/>
        <a:ext cx="1477869" cy="1477869"/>
      </dsp:txXfrm>
    </dsp:sp>
    <dsp:sp modelId="{04C897AF-B4E5-4706-B441-4BA438A0401A}">
      <dsp:nvSpPr>
        <dsp:cNvPr id="0" name=""/>
        <dsp:cNvSpPr/>
      </dsp:nvSpPr>
      <dsp:spPr>
        <a:xfrm rot="19800000">
          <a:off x="6593380" y="1487565"/>
          <a:ext cx="558282" cy="705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6604599" y="1670512"/>
        <a:ext cx="390797" cy="4232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30186B-9244-4EDC-AA97-EE5C8DB64F5F}">
      <dsp:nvSpPr>
        <dsp:cNvPr id="0" name=""/>
        <dsp:cNvSpPr/>
      </dsp:nvSpPr>
      <dsp:spPr>
        <a:xfrm>
          <a:off x="2034889" y="0"/>
          <a:ext cx="7047351" cy="7047351"/>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28EF2D-3423-4771-8811-FBD5E46E254F}">
      <dsp:nvSpPr>
        <dsp:cNvPr id="0" name=""/>
        <dsp:cNvSpPr/>
      </dsp:nvSpPr>
      <dsp:spPr>
        <a:xfrm>
          <a:off x="5558565" y="705423"/>
          <a:ext cx="4580778" cy="125255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Advantages:</a:t>
          </a:r>
          <a:endParaRPr lang="en-IN" sz="2800" kern="1200" dirty="0">
            <a:latin typeface="Times New Roman" panose="02020603050405020304" pitchFamily="18" charset="0"/>
            <a:cs typeface="Times New Roman" panose="02020603050405020304" pitchFamily="18" charset="0"/>
          </a:endParaRPr>
        </a:p>
      </dsp:txBody>
      <dsp:txXfrm>
        <a:off x="5619710" y="766568"/>
        <a:ext cx="4458488" cy="1130266"/>
      </dsp:txXfrm>
    </dsp:sp>
    <dsp:sp modelId="{590E2CFF-FC67-42F1-AEF2-B90E05683A5E}">
      <dsp:nvSpPr>
        <dsp:cNvPr id="0" name=""/>
        <dsp:cNvSpPr/>
      </dsp:nvSpPr>
      <dsp:spPr>
        <a:xfrm>
          <a:off x="5558565" y="2114549"/>
          <a:ext cx="4580778" cy="125255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Real-time data syncing, highly responsive UI, and zero server maintenance cost (Serverless).</a:t>
          </a:r>
          <a:endParaRPr lang="en-IN" sz="2400" kern="1200" dirty="0">
            <a:latin typeface="Times New Roman" panose="02020603050405020304" pitchFamily="18" charset="0"/>
            <a:cs typeface="Times New Roman" panose="02020603050405020304" pitchFamily="18" charset="0"/>
          </a:endParaRPr>
        </a:p>
      </dsp:txBody>
      <dsp:txXfrm>
        <a:off x="5619710" y="2175694"/>
        <a:ext cx="4458488" cy="1130266"/>
      </dsp:txXfrm>
    </dsp:sp>
    <dsp:sp modelId="{9D460421-9D93-4B55-896A-7F6A14C31468}">
      <dsp:nvSpPr>
        <dsp:cNvPr id="0" name=""/>
        <dsp:cNvSpPr/>
      </dsp:nvSpPr>
      <dsp:spPr>
        <a:xfrm>
          <a:off x="5558565" y="3523675"/>
          <a:ext cx="4580778" cy="125255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latin typeface="Times New Roman" panose="02020603050405020304" pitchFamily="18" charset="0"/>
              <a:cs typeface="Times New Roman" panose="02020603050405020304" pitchFamily="18" charset="0"/>
            </a:rPr>
            <a:t>Limitations:</a:t>
          </a:r>
          <a:endParaRPr lang="en-IN" sz="2800" kern="1200" dirty="0">
            <a:latin typeface="Times New Roman" panose="02020603050405020304" pitchFamily="18" charset="0"/>
            <a:cs typeface="Times New Roman" panose="02020603050405020304" pitchFamily="18" charset="0"/>
          </a:endParaRPr>
        </a:p>
      </dsp:txBody>
      <dsp:txXfrm>
        <a:off x="5619710" y="3584820"/>
        <a:ext cx="4458488" cy="1130266"/>
      </dsp:txXfrm>
    </dsp:sp>
    <dsp:sp modelId="{F35E825A-DBF6-461A-9EBD-7362205E9DC1}">
      <dsp:nvSpPr>
        <dsp:cNvPr id="0" name=""/>
        <dsp:cNvSpPr/>
      </dsp:nvSpPr>
      <dsp:spPr>
        <a:xfrm>
          <a:off x="5558565" y="4932801"/>
          <a:ext cx="4580778" cy="125255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Times New Roman" panose="02020603050405020304" pitchFamily="18" charset="0"/>
              <a:cs typeface="Times New Roman" panose="02020603050405020304" pitchFamily="18" charset="0"/>
            </a:rPr>
            <a:t>Requires an active internet connection for database submission.</a:t>
          </a:r>
        </a:p>
      </dsp:txBody>
      <dsp:txXfrm>
        <a:off x="5619710" y="4993946"/>
        <a:ext cx="4458488" cy="1130266"/>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svg"/><Relationship Id="rId7" Type="http://schemas.openxmlformats.org/officeDocument/2006/relationships/diagramColors" Target="../diagrams/colors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svg"/><Relationship Id="rId7" Type="http://schemas.openxmlformats.org/officeDocument/2006/relationships/diagramColors" Target="../diagrams/colors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89304" y="5764198"/>
            <a:ext cx="15784162" cy="707886"/>
          </a:xfrm>
          <a:prstGeom prst="rect">
            <a:avLst/>
          </a:prstGeom>
          <a:noFill/>
        </p:spPr>
        <p:txBody>
          <a:bodyPr wrap="square" rtlCol="0">
            <a:spAutoFit/>
          </a:bodyPr>
          <a:lstStyle/>
          <a:p>
            <a:pPr algn="ctr"/>
            <a:r>
              <a:rPr lang="en-US" sz="4000" dirty="0">
                <a:solidFill>
                  <a:srgbClr val="0033CC"/>
                </a:solidFill>
                <a:latin typeface="Times New Roman" panose="02020603050405020304" pitchFamily="18" charset="0"/>
                <a:cs typeface="Times New Roman" panose="02020603050405020304" pitchFamily="18" charset="0"/>
              </a:rPr>
              <a:t>Student Event Registration Portal: A Cloud-Integrated Management System </a:t>
            </a:r>
            <a:endParaRPr lang="en-IN" sz="40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K.Kartikeya</a:t>
            </a:r>
            <a:r>
              <a:rPr lang="en-US" sz="3000" dirty="0">
                <a:latin typeface="Cambria" panose="02040503050406030204" pitchFamily="18" charset="0"/>
                <a:ea typeface="Cambria" panose="02040503050406030204" pitchFamily="18" charset="0"/>
              </a:rPr>
              <a:t> – VTU25637 – 23UECS1092.</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9525001" y="7818586"/>
            <a:ext cx="8334638"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Mrs. HemaMalini,M.E.,</a:t>
            </a:r>
            <a:r>
              <a:rPr lang="en-US" sz="3000" dirty="0" err="1">
                <a:latin typeface="Cambria" panose="02040503050406030204" pitchFamily="18" charset="0"/>
                <a:ea typeface="Cambria" panose="02040503050406030204" pitchFamily="18" charset="0"/>
              </a:rPr>
              <a:t>Ph.D</a:t>
            </a:r>
            <a:r>
              <a:rPr lang="en-US" sz="3000">
                <a:latin typeface="Cambria" panose="02040503050406030204" pitchFamily="18" charset="0"/>
                <a:ea typeface="Cambria" panose="02040503050406030204" pitchFamily="18" charset="0"/>
              </a:rPr>
              <a:t>., </a:t>
            </a:r>
            <a:r>
              <a:rPr lang="en-US" sz="3000" dirty="0">
                <a:latin typeface="Cambria" panose="02040503050406030204" pitchFamily="18" charset="0"/>
                <a:ea typeface="Cambria" panose="02040503050406030204" pitchFamily="18" charset="0"/>
              </a:rPr>
              <a:t>– Assistant Professor </a:t>
            </a:r>
          </a:p>
          <a:p>
            <a:pPr>
              <a:lnSpc>
                <a:spcPct val="150000"/>
              </a:lnSpc>
            </a:pPr>
            <a:r>
              <a:rPr lang="en-US" sz="3000" dirty="0">
                <a:latin typeface="Cambria" panose="02040503050406030204" pitchFamily="18" charset="0"/>
                <a:ea typeface="Cambria" panose="02040503050406030204" pitchFamily="18" charset="0"/>
              </a:rPr>
              <a:t>                      (Senior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a:t>
            </a:r>
            <a:r>
              <a:rPr lang="en-US" sz="2000" dirty="0"/>
              <a:t>SDG 4 – Quality Education (Promoting effective management of educational events)</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799125" y="1975464"/>
            <a:ext cx="806376" cy="876159"/>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1</a:t>
            </a:r>
          </a:p>
        </p:txBody>
      </p:sp>
      <p:sp>
        <p:nvSpPr>
          <p:cNvPr id="14" name="TextBox 14"/>
          <p:cNvSpPr txBox="1"/>
          <p:nvPr/>
        </p:nvSpPr>
        <p:spPr>
          <a:xfrm>
            <a:off x="995875" y="4480455"/>
            <a:ext cx="412878" cy="459706"/>
          </a:xfrm>
          <a:prstGeom prst="rect">
            <a:avLst/>
          </a:prstGeom>
        </p:spPr>
        <p:txBody>
          <a:bodyPr lIns="50800" tIns="50800" rIns="50800" bIns="50800" rtlCol="0" anchor="ctr"/>
          <a:lstStyle/>
          <a:p>
            <a:pPr algn="ctr">
              <a:lnSpc>
                <a:spcPts val="2380"/>
              </a:lnSpc>
              <a:spcBef>
                <a:spcPct val="0"/>
              </a:spcBef>
            </a:pPr>
            <a:endParaRPr lang="en-US" sz="1700" dirty="0">
              <a:solidFill>
                <a:srgbClr val="191919"/>
              </a:solidFill>
              <a:latin typeface="Gotham"/>
              <a:ea typeface="Gotham"/>
              <a:cs typeface="Gotham"/>
              <a:sym typeface="Gotham"/>
            </a:endParaRPr>
          </a:p>
        </p:txBody>
      </p:sp>
      <p:sp>
        <p:nvSpPr>
          <p:cNvPr id="23" name="TextBox 23"/>
          <p:cNvSpPr txBox="1"/>
          <p:nvPr/>
        </p:nvSpPr>
        <p:spPr>
          <a:xfrm>
            <a:off x="995875" y="3809602"/>
            <a:ext cx="412878" cy="459706"/>
          </a:xfrm>
          <a:prstGeom prst="rect">
            <a:avLst/>
          </a:prstGeom>
        </p:spPr>
        <p:txBody>
          <a:bodyPr lIns="50800" tIns="50800" rIns="50800" bIns="50800" rtlCol="0" anchor="ctr"/>
          <a:lstStyle/>
          <a:p>
            <a:pPr algn="ctr">
              <a:lnSpc>
                <a:spcPts val="2380"/>
              </a:lnSpc>
              <a:spcBef>
                <a:spcPct val="0"/>
              </a:spcBef>
            </a:pPr>
            <a:endParaRPr lang="en-US" sz="1700" dirty="0">
              <a:solidFill>
                <a:srgbClr val="191919"/>
              </a:solidFill>
              <a:latin typeface="Gotham"/>
              <a:ea typeface="Gotham"/>
              <a:cs typeface="Gotham"/>
              <a:sym typeface="Gotham"/>
            </a:endParaRPr>
          </a:p>
        </p:txBody>
      </p:sp>
      <p:sp>
        <p:nvSpPr>
          <p:cNvPr id="38" name="TextBox 38"/>
          <p:cNvSpPr txBox="1"/>
          <p:nvPr/>
        </p:nvSpPr>
        <p:spPr>
          <a:xfrm>
            <a:off x="995875" y="7156477"/>
            <a:ext cx="412878" cy="459706"/>
          </a:xfrm>
          <a:prstGeom prst="rect">
            <a:avLst/>
          </a:prstGeom>
        </p:spPr>
        <p:txBody>
          <a:bodyPr lIns="50800" tIns="50800" rIns="50800" bIns="50800" rtlCol="0" anchor="ctr"/>
          <a:lstStyle/>
          <a:p>
            <a:pPr algn="ctr">
              <a:lnSpc>
                <a:spcPts val="2380"/>
              </a:lnSpc>
              <a:spcBef>
                <a:spcPct val="0"/>
              </a:spcBef>
            </a:pPr>
            <a:endParaRPr lang="en-US" sz="1700" dirty="0">
              <a:solidFill>
                <a:srgbClr val="191919"/>
              </a:solidFill>
              <a:latin typeface="Gotham"/>
              <a:ea typeface="Gotham"/>
              <a:cs typeface="Gotham"/>
              <a:sym typeface="Gotham"/>
            </a:endParaRPr>
          </a:p>
        </p:txBody>
      </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457201" y="1638300"/>
            <a:ext cx="15424250" cy="15481161"/>
          </a:xfrm>
          <a:prstGeom prst="rect">
            <a:avLst/>
          </a:prstGeom>
          <a:noFill/>
        </p:spPr>
        <p:txBody>
          <a:bodyPr wrap="square" rtlCol="0">
            <a:spAutoFit/>
          </a:bodyPr>
          <a:lstStyle/>
          <a:p>
            <a:pPr marL="457200" indent="-457200">
              <a:buFontTx/>
              <a:buChar char="-"/>
            </a:pPr>
            <a:r>
              <a:rPr lang="en-US" sz="4000" dirty="0">
                <a:latin typeface="Times New Roman" panose="02020603050405020304" pitchFamily="18" charset="0"/>
                <a:cs typeface="Times New Roman" panose="02020603050405020304" pitchFamily="18" charset="0"/>
              </a:rPr>
              <a:t>Maximum 8 Lines –</a:t>
            </a: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r>
              <a:rPr lang="en-US" sz="4000" dirty="0">
                <a:latin typeface="Times New Roman" panose="02020603050405020304" pitchFamily="18" charset="0"/>
                <a:cs typeface="Times New Roman" panose="02020603050405020304" pitchFamily="18" charset="0"/>
              </a:rPr>
              <a:t>The project is a centralized web platform for students to register for university events like </a:t>
            </a:r>
            <a:r>
              <a:rPr lang="en-US" sz="4000" dirty="0" err="1">
                <a:latin typeface="Times New Roman" panose="02020603050405020304" pitchFamily="18" charset="0"/>
                <a:cs typeface="Times New Roman" panose="02020603050405020304" pitchFamily="18" charset="0"/>
              </a:rPr>
              <a:t>Lavaza</a:t>
            </a:r>
            <a:r>
              <a:rPr lang="en-US" sz="4000" dirty="0">
                <a:latin typeface="Times New Roman" panose="02020603050405020304" pitchFamily="18" charset="0"/>
                <a:cs typeface="Times New Roman" panose="02020603050405020304" pitchFamily="18" charset="0"/>
              </a:rPr>
              <a:t> and </a:t>
            </a:r>
            <a:r>
              <a:rPr lang="en-US" sz="4000" dirty="0" err="1">
                <a:latin typeface="Times New Roman" panose="02020603050405020304" pitchFamily="18" charset="0"/>
                <a:cs typeface="Times New Roman" panose="02020603050405020304" pitchFamily="18" charset="0"/>
              </a:rPr>
              <a:t>Visai</a:t>
            </a:r>
            <a:r>
              <a:rPr lang="en-US" sz="4000" dirty="0">
                <a:latin typeface="Times New Roman" panose="02020603050405020304" pitchFamily="18" charset="0"/>
                <a:cs typeface="Times New Roman" panose="02020603050405020304" pitchFamily="18" charset="0"/>
              </a:rPr>
              <a:t>. </a:t>
            </a:r>
          </a:p>
          <a:p>
            <a:pPr marL="457200" indent="-457200">
              <a:buFontTx/>
              <a:buChar char="-"/>
            </a:pPr>
            <a:r>
              <a:rPr lang="en-US" sz="4000" dirty="0">
                <a:latin typeface="Times New Roman" panose="02020603050405020304" pitchFamily="18" charset="0"/>
                <a:cs typeface="Times New Roman" panose="02020603050405020304" pitchFamily="18" charset="0"/>
              </a:rPr>
              <a:t>Traditional registration methods at universities often rely on fragmented paper forms or basic digital sheets.</a:t>
            </a:r>
          </a:p>
          <a:p>
            <a:pPr marL="457200" indent="-457200">
              <a:buFontTx/>
              <a:buChar char="-"/>
            </a:pPr>
            <a:r>
              <a:rPr lang="en-US" sz="4000" dirty="0">
                <a:latin typeface="Times New Roman" panose="02020603050405020304" pitchFamily="18" charset="0"/>
                <a:cs typeface="Times New Roman" panose="02020603050405020304" pitchFamily="18" charset="0"/>
              </a:rPr>
              <a:t>This system is important because it automates data collection and ensures real-time updates for organizers.</a:t>
            </a:r>
          </a:p>
          <a:p>
            <a:pPr marL="457200" indent="-457200">
              <a:buFontTx/>
              <a:buChar char="-"/>
            </a:pPr>
            <a:r>
              <a:rPr lang="en-US" sz="4000" dirty="0">
                <a:latin typeface="Times New Roman" panose="02020603050405020304" pitchFamily="18" charset="0"/>
                <a:cs typeface="Times New Roman" panose="02020603050405020304" pitchFamily="18" charset="0"/>
              </a:rPr>
              <a:t>The portal bridges the gap between event planners and the student body through a modern user interface. </a:t>
            </a:r>
          </a:p>
          <a:p>
            <a:pPr marL="457200" indent="-457200">
              <a:buFontTx/>
              <a:buChar char="-"/>
            </a:pPr>
            <a:r>
              <a:rPr lang="en-US" sz="4000" dirty="0">
                <a:latin typeface="Times New Roman" panose="02020603050405020304" pitchFamily="18" charset="0"/>
                <a:cs typeface="Times New Roman" panose="02020603050405020304" pitchFamily="18" charset="0"/>
              </a:rPr>
              <a:t>It uses a serverless cloud architecture to handle high-traffic registration periods efficiently. </a:t>
            </a: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IN"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802400" y="2671373"/>
            <a:ext cx="806376" cy="876159"/>
          </a:xfrm>
          <a:prstGeom prst="rect">
            <a:avLst/>
          </a:prstGeom>
        </p:spPr>
        <p:txBody>
          <a:bodyPr lIns="50800" tIns="50800" rIns="50800" bIns="50800" rtlCol="0" anchor="ctr"/>
          <a:lstStyle/>
          <a:p>
            <a:pPr algn="ctr">
              <a:lnSpc>
                <a:spcPts val="3779"/>
              </a:lnSpc>
              <a:spcBef>
                <a:spcPct val="0"/>
              </a:spcBef>
            </a:pPr>
            <a:endParaRPr lang="en-US" sz="2699" dirty="0">
              <a:solidFill>
                <a:srgbClr val="FFFEFE"/>
              </a:solidFill>
              <a:latin typeface="Gotham"/>
              <a:ea typeface="Gotham"/>
              <a:cs typeface="Gotham"/>
              <a:sym typeface="Gotham"/>
            </a:endParaRPr>
          </a:p>
        </p:txBody>
      </p:sp>
      <p:sp>
        <p:nvSpPr>
          <p:cNvPr id="16" name="TextBox 16"/>
          <p:cNvSpPr txBox="1"/>
          <p:nvPr/>
        </p:nvSpPr>
        <p:spPr>
          <a:xfrm>
            <a:off x="999149" y="4461412"/>
            <a:ext cx="412878" cy="459706"/>
          </a:xfrm>
          <a:prstGeom prst="rect">
            <a:avLst/>
          </a:prstGeom>
        </p:spPr>
        <p:txBody>
          <a:bodyPr lIns="50800" tIns="50800" rIns="50800" bIns="50800" rtlCol="0" anchor="ctr"/>
          <a:lstStyle/>
          <a:p>
            <a:pPr algn="ctr">
              <a:lnSpc>
                <a:spcPts val="2380"/>
              </a:lnSpc>
              <a:spcBef>
                <a:spcPct val="0"/>
              </a:spcBef>
            </a:pPr>
            <a:endParaRPr lang="en-US" sz="1700" dirty="0">
              <a:solidFill>
                <a:srgbClr val="191919"/>
              </a:solidFill>
              <a:latin typeface="Gotham"/>
              <a:ea typeface="Gotham"/>
              <a:cs typeface="Gotham"/>
              <a:sym typeface="Gotham"/>
            </a:endParaRPr>
          </a:p>
        </p:txBody>
      </p:sp>
      <p:sp>
        <p:nvSpPr>
          <p:cNvPr id="22" name="TextBox 22"/>
          <p:cNvSpPr txBox="1"/>
          <p:nvPr/>
        </p:nvSpPr>
        <p:spPr>
          <a:xfrm>
            <a:off x="999149" y="5127175"/>
            <a:ext cx="412878" cy="459706"/>
          </a:xfrm>
          <a:prstGeom prst="rect">
            <a:avLst/>
          </a:prstGeom>
        </p:spPr>
        <p:txBody>
          <a:bodyPr lIns="50800" tIns="50800" rIns="50800" bIns="50800" rtlCol="0" anchor="ctr"/>
          <a:lstStyle/>
          <a:p>
            <a:pPr algn="ctr">
              <a:lnSpc>
                <a:spcPts val="2380"/>
              </a:lnSpc>
              <a:spcBef>
                <a:spcPct val="0"/>
              </a:spcBef>
            </a:pPr>
            <a:endParaRPr lang="en-US" sz="1700" dirty="0">
              <a:solidFill>
                <a:srgbClr val="191919"/>
              </a:solidFill>
              <a:latin typeface="Gotham"/>
              <a:ea typeface="Gotham"/>
              <a:cs typeface="Gotham"/>
              <a:sym typeface="Gotham"/>
            </a:endParaRPr>
          </a:p>
        </p:txBody>
      </p:sp>
      <p:sp>
        <p:nvSpPr>
          <p:cNvPr id="28" name="TextBox 28"/>
          <p:cNvSpPr txBox="1"/>
          <p:nvPr/>
        </p:nvSpPr>
        <p:spPr>
          <a:xfrm>
            <a:off x="999149" y="6458701"/>
            <a:ext cx="412878" cy="459706"/>
          </a:xfrm>
          <a:prstGeom prst="rect">
            <a:avLst/>
          </a:prstGeom>
        </p:spPr>
        <p:txBody>
          <a:bodyPr lIns="50800" tIns="50800" rIns="50800" bIns="50800" rtlCol="0" anchor="ctr"/>
          <a:lstStyle/>
          <a:p>
            <a:pPr algn="ctr">
              <a:lnSpc>
                <a:spcPts val="2380"/>
              </a:lnSpc>
              <a:spcBef>
                <a:spcPct val="0"/>
              </a:spcBef>
            </a:pPr>
            <a:endParaRPr lang="en-US" sz="1700" dirty="0">
              <a:solidFill>
                <a:srgbClr val="191919"/>
              </a:solidFill>
              <a:latin typeface="Gotham"/>
              <a:ea typeface="Gotham"/>
              <a:cs typeface="Gotham"/>
              <a:sym typeface="Gotham"/>
            </a:endParaRPr>
          </a:p>
        </p:txBody>
      </p:sp>
      <p:sp>
        <p:nvSpPr>
          <p:cNvPr id="38" name="TextBox 38"/>
          <p:cNvSpPr txBox="1"/>
          <p:nvPr/>
        </p:nvSpPr>
        <p:spPr>
          <a:xfrm>
            <a:off x="999149" y="7126332"/>
            <a:ext cx="412878" cy="459706"/>
          </a:xfrm>
          <a:prstGeom prst="rect">
            <a:avLst/>
          </a:prstGeom>
        </p:spPr>
        <p:txBody>
          <a:bodyPr lIns="50800" tIns="50800" rIns="50800" bIns="50800" rtlCol="0" anchor="ctr"/>
          <a:lstStyle/>
          <a:p>
            <a:pPr algn="ctr">
              <a:lnSpc>
                <a:spcPts val="2380"/>
              </a:lnSpc>
              <a:spcBef>
                <a:spcPct val="0"/>
              </a:spcBef>
            </a:pPr>
            <a:endParaRPr lang="en-US" sz="1700" dirty="0">
              <a:solidFill>
                <a:srgbClr val="191919"/>
              </a:solidFill>
              <a:latin typeface="Gotham"/>
              <a:ea typeface="Gotham"/>
              <a:cs typeface="Gotham"/>
              <a:sym typeface="Gotham"/>
            </a:endParaRPr>
          </a:p>
        </p:txBody>
      </p:sp>
      <p:sp>
        <p:nvSpPr>
          <p:cNvPr id="41" name="TextBox 41"/>
          <p:cNvSpPr txBox="1"/>
          <p:nvPr/>
        </p:nvSpPr>
        <p:spPr>
          <a:xfrm>
            <a:off x="999149" y="7793962"/>
            <a:ext cx="412878" cy="459706"/>
          </a:xfrm>
          <a:prstGeom prst="rect">
            <a:avLst/>
          </a:prstGeom>
        </p:spPr>
        <p:txBody>
          <a:bodyPr lIns="50800" tIns="50800" rIns="50800" bIns="50800" rtlCol="0" anchor="ctr"/>
          <a:lstStyle/>
          <a:p>
            <a:pPr algn="ctr">
              <a:lnSpc>
                <a:spcPts val="2380"/>
              </a:lnSpc>
              <a:spcBef>
                <a:spcPct val="0"/>
              </a:spcBef>
            </a:pPr>
            <a:endParaRPr lang="en-US" sz="1700" dirty="0">
              <a:solidFill>
                <a:srgbClr val="191919"/>
              </a:solidFill>
              <a:latin typeface="Gotham"/>
              <a:ea typeface="Gotham"/>
              <a:cs typeface="Gotham"/>
              <a:sym typeface="Gotham"/>
            </a:endParaRPr>
          </a:p>
        </p:txBody>
      </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015190" y="2067359"/>
            <a:ext cx="16470409" cy="3539430"/>
          </a:xfrm>
          <a:prstGeom prst="rect">
            <a:avLst/>
          </a:prstGeom>
          <a:noFill/>
        </p:spPr>
        <p:txBody>
          <a:bodyPr wrap="square" rtlCol="0">
            <a:spAutoFit/>
          </a:bodyPr>
          <a:lstStyle/>
          <a:p>
            <a:pPr marL="457200" indent="-457200">
              <a:buFontTx/>
              <a:buChar char="-"/>
            </a:pPr>
            <a:r>
              <a:rPr lang="en-US" sz="2800" dirty="0">
                <a:latin typeface="Times New Roman" panose="02020603050405020304" pitchFamily="18" charset="0"/>
                <a:cs typeface="Times New Roman" panose="02020603050405020304" pitchFamily="18" charset="0"/>
              </a:rPr>
              <a:t>In many educational institutions, including large-scale universities, existing event registration systems are not fully automated and continue to rely on fragmented manual work or basic spreadsheets. This traditional approach leads to significant inefficiency in managing high volumes of student data and completing registration tasks during peak periods for flagship events. Without a centralized cloud-based platform, there is a persistent risk of data redundancy, loss of student records, and an inability to track participation in real-time across technical, cultural, and academic domains. Consequently, there is a critical need for a simple, reliable, and automated web-based system to improve overall administrative performance, ensure data integrity, and provide a seamless experience for the student body</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6740307"/>
          </a:xfrm>
          <a:prstGeom prst="rect">
            <a:avLst/>
          </a:prstGeom>
          <a:noFill/>
        </p:spPr>
        <p:txBody>
          <a:bodyPr wrap="square" rtlCol="0">
            <a:spAutoFit/>
          </a:bodyPr>
          <a:lstStyle/>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To design and develop a responsive web portal for seamless student event registration using HTML and CSS.</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To implement a real-time cloud database using Firebase </a:t>
            </a:r>
            <a:r>
              <a:rPr lang="en-US" sz="3600" dirty="0" err="1">
                <a:latin typeface="Times New Roman" panose="02020603050405020304" pitchFamily="18" charset="0"/>
                <a:cs typeface="Times New Roman" panose="02020603050405020304" pitchFamily="18" charset="0"/>
              </a:rPr>
              <a:t>Firestore</a:t>
            </a:r>
            <a:r>
              <a:rPr lang="en-US" sz="3600" dirty="0">
                <a:latin typeface="Times New Roman" panose="02020603050405020304" pitchFamily="18" charset="0"/>
                <a:cs typeface="Times New Roman" panose="02020603050405020304" pitchFamily="18" charset="0"/>
              </a:rPr>
              <a:t> for secure and instant data storage.</a:t>
            </a: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773523" y="1333500"/>
            <a:ext cx="15082325" cy="15050274"/>
          </a:xfrm>
          <a:prstGeom prst="rect">
            <a:avLst/>
          </a:prstGeom>
          <a:noFill/>
        </p:spPr>
        <p:txBody>
          <a:bodyPr wrap="square" rtlCol="0">
            <a:spAutoFit/>
          </a:bodyPr>
          <a:lstStyle/>
          <a:p>
            <a:endParaRPr lang="en-US" sz="36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A cloud-based web application that automates the entire student registration lifecycle. </a:t>
            </a:r>
          </a:p>
          <a:p>
            <a:pPr marL="914400" lvl="1" indent="-4572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Uses </a:t>
            </a:r>
            <a:r>
              <a:rPr lang="en-US" sz="3600" dirty="0" err="1">
                <a:latin typeface="Times New Roman" panose="02020603050405020304" pitchFamily="18" charset="0"/>
                <a:cs typeface="Times New Roman" panose="02020603050405020304" pitchFamily="18" charset="0"/>
              </a:rPr>
              <a:t>Firestore</a:t>
            </a:r>
            <a:r>
              <a:rPr lang="en-US" sz="3600" dirty="0">
                <a:latin typeface="Times New Roman" panose="02020603050405020304" pitchFamily="18" charset="0"/>
                <a:cs typeface="Times New Roman" panose="02020603050405020304" pitchFamily="18" charset="0"/>
              </a:rPr>
              <a:t> as a flexible NoSQL database to store student IDs, emails, and event choices instantly.</a:t>
            </a:r>
          </a:p>
          <a:p>
            <a:pPr marL="914400" lvl="1" indent="-4572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Solves existing issues of manual data handling by providing a centralized digital database. </a:t>
            </a:r>
          </a:p>
          <a:p>
            <a:pPr marL="914400" lvl="1" indent="-4572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Offers high scalability to handle thousands of registrations for events like Hackathons and Alumni meets</a:t>
            </a:r>
          </a:p>
          <a:p>
            <a:pPr marL="914400" lvl="1" indent="-4572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Reduces the workload of campus administrators through automated record-keeping and timestamps. </a:t>
            </a:r>
          </a:p>
          <a:p>
            <a:pPr lvl="1"/>
            <a:endParaRPr lang="en-US" sz="3600" dirty="0">
              <a:latin typeface="Times New Roman" panose="02020603050405020304" pitchFamily="18" charset="0"/>
              <a:cs typeface="Times New Roman" panose="02020603050405020304" pitchFamily="18" charset="0"/>
            </a:endParaRPr>
          </a:p>
          <a:p>
            <a:pPr lvl="1"/>
            <a:r>
              <a:rPr lang="en-US" sz="3600" dirty="0">
                <a:latin typeface="Times New Roman" panose="02020603050405020304" pitchFamily="18" charset="0"/>
                <a:cs typeface="Times New Roman" panose="02020603050405020304" pitchFamily="18" charset="0"/>
              </a:rPr>
              <a:t>   </a:t>
            </a:r>
          </a:p>
          <a:p>
            <a:pPr marL="914400" lvl="1" indent="-457200">
              <a:buFont typeface="Arial" panose="020B0604020202020204" pitchFamily="34" charset="0"/>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790852" y="1497211"/>
            <a:ext cx="15082325" cy="11726287"/>
          </a:xfrm>
          <a:prstGeom prst="rect">
            <a:avLst/>
          </a:prstGeom>
          <a:noFill/>
        </p:spPr>
        <p:txBody>
          <a:bodyPr wrap="square" rtlCol="0">
            <a:spAutoFit/>
          </a:bodyPr>
          <a:lstStyle/>
          <a:p>
            <a:endParaRPr lang="en-US" sz="3600" dirty="0">
              <a:latin typeface="Times New Roman" panose="02020603050405020304" pitchFamily="18" charset="0"/>
              <a:cs typeface="Times New Roman" panose="02020603050405020304" pitchFamily="18" charset="0"/>
            </a:endParaRPr>
          </a:p>
          <a:p>
            <a:pPr marL="457200" indent="-457200">
              <a:buFontTx/>
              <a:buChar char="-"/>
            </a:pPr>
            <a:r>
              <a:rPr lang="en-US" sz="3600" dirty="0">
                <a:latin typeface="Times New Roman" panose="02020603050405020304" pitchFamily="18" charset="0"/>
                <a:cs typeface="Times New Roman" panose="02020603050405020304" pitchFamily="18" charset="0"/>
              </a:rPr>
              <a:t>Explain:</a:t>
            </a:r>
          </a:p>
          <a:p>
            <a:pPr marL="1371600" lvl="2" indent="-457200">
              <a:buFont typeface="Wingdings" panose="05000000000000000000" pitchFamily="2" charset="2"/>
              <a:buChar char="Ø"/>
            </a:pPr>
            <a:r>
              <a:rPr lang="en-US" sz="3600" b="1" dirty="0">
                <a:latin typeface="Times New Roman" panose="02020603050405020304" pitchFamily="18" charset="0"/>
                <a:cs typeface="Times New Roman" panose="02020603050405020304" pitchFamily="18" charset="0"/>
              </a:rPr>
              <a:t>Input:</a:t>
            </a:r>
            <a:r>
              <a:rPr lang="en-US" sz="3600" dirty="0">
                <a:latin typeface="Times New Roman" panose="02020603050405020304" pitchFamily="18" charset="0"/>
                <a:cs typeface="Times New Roman" panose="02020603050405020304" pitchFamily="18" charset="0"/>
              </a:rPr>
              <a:t> Student details (Name, VTU ID, Email) and selected event from the dropdown menu. </a:t>
            </a:r>
          </a:p>
          <a:p>
            <a:pPr marL="1371600" lvl="2" indent="-457200">
              <a:buFont typeface="Wingdings" panose="05000000000000000000" pitchFamily="2" charset="2"/>
              <a:buChar char="Ø"/>
            </a:pPr>
            <a:r>
              <a:rPr lang="en-US" sz="3600" b="1" dirty="0">
                <a:latin typeface="Times New Roman" panose="02020603050405020304" pitchFamily="18" charset="0"/>
                <a:cs typeface="Times New Roman" panose="02020603050405020304" pitchFamily="18" charset="0"/>
              </a:rPr>
              <a:t>Processing:</a:t>
            </a:r>
            <a:r>
              <a:rPr lang="en-US" sz="3600" dirty="0">
                <a:latin typeface="Times New Roman" panose="02020603050405020304" pitchFamily="18" charset="0"/>
                <a:cs typeface="Times New Roman" panose="02020603050405020304" pitchFamily="18" charset="0"/>
              </a:rPr>
              <a:t> JavaScript logic (app.js) captures form data and communicates with the Firebase SDK</a:t>
            </a:r>
          </a:p>
          <a:p>
            <a:pPr marL="1371600" lvl="2" indent="-457200">
              <a:buFont typeface="Wingdings" panose="05000000000000000000" pitchFamily="2" charset="2"/>
              <a:buChar char="Ø"/>
            </a:pPr>
            <a:r>
              <a:rPr lang="en-US" sz="3600" b="1" dirty="0">
                <a:latin typeface="Times New Roman" panose="02020603050405020304" pitchFamily="18" charset="0"/>
                <a:cs typeface="Times New Roman" panose="02020603050405020304" pitchFamily="18" charset="0"/>
              </a:rPr>
              <a:t>Database:</a:t>
            </a:r>
            <a:r>
              <a:rPr lang="en-US" sz="3600" dirty="0">
                <a:latin typeface="Times New Roman" panose="02020603050405020304" pitchFamily="18" charset="0"/>
                <a:cs typeface="Times New Roman" panose="02020603050405020304" pitchFamily="18" charset="0"/>
              </a:rPr>
              <a:t> Firebase </a:t>
            </a:r>
            <a:r>
              <a:rPr lang="en-US" sz="3600" dirty="0" err="1">
                <a:latin typeface="Times New Roman" panose="02020603050405020304" pitchFamily="18" charset="0"/>
                <a:cs typeface="Times New Roman" panose="02020603050405020304" pitchFamily="18" charset="0"/>
              </a:rPr>
              <a:t>Firestore</a:t>
            </a:r>
            <a:r>
              <a:rPr lang="en-US" sz="3600" dirty="0">
                <a:latin typeface="Times New Roman" panose="02020603050405020304" pitchFamily="18" charset="0"/>
                <a:cs typeface="Times New Roman" panose="02020603050405020304" pitchFamily="18" charset="0"/>
              </a:rPr>
              <a:t> stores the registration records in a "</a:t>
            </a:r>
            <a:r>
              <a:rPr lang="en-US" sz="3600" dirty="0" err="1">
                <a:latin typeface="Times New Roman" panose="02020603050405020304" pitchFamily="18" charset="0"/>
                <a:cs typeface="Times New Roman" panose="02020603050405020304" pitchFamily="18" charset="0"/>
              </a:rPr>
              <a:t>vtu_event_registrations</a:t>
            </a:r>
            <a:r>
              <a:rPr lang="en-US" sz="3600" dirty="0">
                <a:latin typeface="Times New Roman" panose="02020603050405020304" pitchFamily="18" charset="0"/>
                <a:cs typeface="Times New Roman" panose="02020603050405020304" pitchFamily="18" charset="0"/>
              </a:rPr>
              <a:t>" collection.</a:t>
            </a:r>
          </a:p>
          <a:p>
            <a:pPr marL="1371600" lvl="2" indent="-457200">
              <a:buFont typeface="Wingdings" panose="05000000000000000000" pitchFamily="2" charset="2"/>
              <a:buChar char="Ø"/>
            </a:pPr>
            <a:r>
              <a:rPr lang="en-US" sz="3600" b="1" dirty="0">
                <a:latin typeface="Times New Roman" panose="02020603050405020304" pitchFamily="18" charset="0"/>
                <a:cs typeface="Times New Roman" panose="02020603050405020304" pitchFamily="18" charset="0"/>
              </a:rPr>
              <a:t>Output:</a:t>
            </a:r>
            <a:r>
              <a:rPr lang="en-US" sz="3600" dirty="0">
                <a:latin typeface="Times New Roman" panose="02020603050405020304" pitchFamily="18" charset="0"/>
                <a:cs typeface="Times New Roman" panose="02020603050405020304" pitchFamily="18" charset="0"/>
              </a:rPr>
              <a:t> Instant "Registration Successful" alert and real-time data visibility for administrators. </a:t>
            </a: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21201" y="21447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graphicFrame>
        <p:nvGraphicFramePr>
          <p:cNvPr id="5" name="Diagram 4">
            <a:extLst>
              <a:ext uri="{FF2B5EF4-FFF2-40B4-BE49-F238E27FC236}">
                <a16:creationId xmlns:a16="http://schemas.microsoft.com/office/drawing/2014/main" id="{D052ACF7-55C8-9292-FEB7-2D4317DFD4B7}"/>
              </a:ext>
            </a:extLst>
          </p:cNvPr>
          <p:cNvGraphicFramePr/>
          <p:nvPr>
            <p:extLst>
              <p:ext uri="{D42A27DB-BD31-4B8C-83A1-F6EECF244321}">
                <p14:modId xmlns:p14="http://schemas.microsoft.com/office/powerpoint/2010/main" val="2701314323"/>
              </p:ext>
            </p:extLst>
          </p:nvPr>
        </p:nvGraphicFramePr>
        <p:xfrm>
          <a:off x="896669" y="1590078"/>
          <a:ext cx="16494662" cy="83797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Rectangle 1">
            <a:extLst>
              <a:ext uri="{FF2B5EF4-FFF2-40B4-BE49-F238E27FC236}">
                <a16:creationId xmlns:a16="http://schemas.microsoft.com/office/drawing/2014/main" id="{2A5666ED-F5D6-4263-28D9-178FC3368339}"/>
              </a:ext>
            </a:extLst>
          </p:cNvPr>
          <p:cNvSpPr>
            <a:spLocks noChangeArrowheads="1"/>
          </p:cNvSpPr>
          <p:nvPr/>
        </p:nvSpPr>
        <p:spPr bwMode="auto">
          <a:xfrm>
            <a:off x="3657600" y="5180313"/>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1233845"/>
          </a:xfrm>
          <a:prstGeom prst="rect">
            <a:avLst/>
          </a:prstGeom>
          <a:noFill/>
        </p:spPr>
        <p:txBody>
          <a:bodyPr wrap="square" rtlCol="0">
            <a:spAutoFit/>
          </a:bodyPr>
          <a:lstStyle/>
          <a:p>
            <a:pPr marL="457200" indent="-457200">
              <a:buFontTx/>
              <a:buChar char="-"/>
            </a:pPr>
            <a:r>
              <a:rPr lang="en-US" sz="3600" b="1" dirty="0">
                <a:latin typeface="Times New Roman" panose="02020603050405020304" pitchFamily="18" charset="0"/>
                <a:cs typeface="Times New Roman" panose="02020603050405020304" pitchFamily="18" charset="0"/>
              </a:rPr>
              <a:t>Frontend:</a:t>
            </a:r>
          </a:p>
          <a:p>
            <a:pPr marL="457200" indent="-457200">
              <a:buFontTx/>
              <a:buChar char="-"/>
            </a:pPr>
            <a:r>
              <a:rPr lang="en-US" sz="3600" dirty="0">
                <a:latin typeface="Times New Roman" panose="02020603050405020304" pitchFamily="18" charset="0"/>
                <a:cs typeface="Times New Roman" panose="02020603050405020304" pitchFamily="18" charset="0"/>
              </a:rPr>
              <a:t>HTML5, CSS3 (Premium UI with </a:t>
            </a:r>
            <a:r>
              <a:rPr lang="en-US" sz="3600" dirty="0" err="1">
                <a:latin typeface="Times New Roman" panose="02020603050405020304" pitchFamily="18" charset="0"/>
                <a:cs typeface="Times New Roman" panose="02020603050405020304" pitchFamily="18" charset="0"/>
              </a:rPr>
              <a:t>Glassmorphism</a:t>
            </a:r>
            <a:r>
              <a:rPr lang="en-US" sz="3600" dirty="0">
                <a:latin typeface="Times New Roman" panose="02020603050405020304" pitchFamily="18" charset="0"/>
                <a:cs typeface="Times New Roman" panose="02020603050405020304" pitchFamily="18" charset="0"/>
              </a:rPr>
              <a:t>), and JavaScript (ES6+). </a:t>
            </a:r>
          </a:p>
          <a:p>
            <a:pPr marL="457200" indent="-457200">
              <a:buFontTx/>
              <a:buChar char="-"/>
            </a:pPr>
            <a:r>
              <a:rPr lang="en-US" sz="3600" b="1" dirty="0">
                <a:latin typeface="Times New Roman" panose="02020603050405020304" pitchFamily="18" charset="0"/>
                <a:cs typeface="Times New Roman" panose="02020603050405020304" pitchFamily="18" charset="0"/>
              </a:rPr>
              <a:t>Backend:</a:t>
            </a:r>
          </a:p>
          <a:p>
            <a:pPr marL="457200" indent="-457200">
              <a:buFontTx/>
              <a:buChar char="-"/>
            </a:pPr>
            <a:r>
              <a:rPr lang="en-IN" sz="3600" dirty="0">
                <a:latin typeface="Times New Roman" panose="02020603050405020304" pitchFamily="18" charset="0"/>
                <a:cs typeface="Times New Roman" panose="02020603050405020304" pitchFamily="18" charset="0"/>
              </a:rPr>
              <a:t>Firebase SDK (Serverless architecture). </a:t>
            </a:r>
            <a:endParaRPr lang="en-US" sz="3600" dirty="0">
              <a:latin typeface="Times New Roman" panose="02020603050405020304" pitchFamily="18" charset="0"/>
              <a:cs typeface="Times New Roman" panose="02020603050405020304" pitchFamily="18" charset="0"/>
            </a:endParaRPr>
          </a:p>
          <a:p>
            <a:pPr marL="457200" indent="-457200">
              <a:buFontTx/>
              <a:buChar char="-"/>
            </a:pPr>
            <a:r>
              <a:rPr lang="en-US" sz="3600" b="1" dirty="0">
                <a:latin typeface="Times New Roman" panose="02020603050405020304" pitchFamily="18" charset="0"/>
                <a:cs typeface="Times New Roman" panose="02020603050405020304" pitchFamily="18" charset="0"/>
              </a:rPr>
              <a:t>Database: </a:t>
            </a:r>
          </a:p>
          <a:p>
            <a:pPr marL="457200" indent="-457200">
              <a:buFontTx/>
              <a:buChar char="-"/>
            </a:pPr>
            <a:r>
              <a:rPr lang="en-US" sz="3600" b="1" dirty="0">
                <a:latin typeface="Times New Roman" panose="02020603050405020304" pitchFamily="18" charset="0"/>
                <a:cs typeface="Times New Roman" panose="02020603050405020304" pitchFamily="18" charset="0"/>
              </a:rPr>
              <a:t> </a:t>
            </a:r>
            <a:r>
              <a:rPr lang="en-IN" sz="3600" dirty="0">
                <a:latin typeface="Times New Roman" panose="02020603050405020304" pitchFamily="18" charset="0"/>
                <a:cs typeface="Times New Roman" panose="02020603050405020304" pitchFamily="18" charset="0"/>
              </a:rPr>
              <a:t>Firebase </a:t>
            </a:r>
            <a:r>
              <a:rPr lang="en-IN" sz="3600" dirty="0" err="1">
                <a:latin typeface="Times New Roman" panose="02020603050405020304" pitchFamily="18" charset="0"/>
                <a:cs typeface="Times New Roman" panose="02020603050405020304" pitchFamily="18" charset="0"/>
              </a:rPr>
              <a:t>Firestore</a:t>
            </a:r>
            <a:r>
              <a:rPr lang="en-IN" sz="3600" dirty="0">
                <a:latin typeface="Times New Roman" panose="02020603050405020304" pitchFamily="18" charset="0"/>
                <a:cs typeface="Times New Roman" panose="02020603050405020304" pitchFamily="18" charset="0"/>
              </a:rPr>
              <a:t> (NoSQL Cloud Database).</a:t>
            </a:r>
            <a:endParaRPr lang="en-US" sz="3600" dirty="0">
              <a:latin typeface="Times New Roman" panose="02020603050405020304" pitchFamily="18" charset="0"/>
              <a:cs typeface="Times New Roman" panose="02020603050405020304" pitchFamily="18" charset="0"/>
            </a:endParaRPr>
          </a:p>
          <a:p>
            <a:pPr marL="457200" indent="-457200">
              <a:buFontTx/>
              <a:buChar char="-"/>
            </a:pPr>
            <a:r>
              <a:rPr lang="en-US" sz="3600" b="1" dirty="0">
                <a:latin typeface="Times New Roman" panose="02020603050405020304" pitchFamily="18" charset="0"/>
                <a:cs typeface="Times New Roman" panose="02020603050405020304" pitchFamily="18" charset="0"/>
              </a:rPr>
              <a:t>Tools</a:t>
            </a:r>
            <a:r>
              <a:rPr lang="en-US" sz="3600" dirty="0">
                <a:latin typeface="Times New Roman" panose="02020603050405020304" pitchFamily="18" charset="0"/>
                <a:cs typeface="Times New Roman" panose="02020603050405020304" pitchFamily="18" charset="0"/>
              </a:rPr>
              <a:t>: </a:t>
            </a:r>
          </a:p>
          <a:p>
            <a:pPr marL="457200" indent="-457200">
              <a:buFontTx/>
              <a:buChar char="-"/>
            </a:pPr>
            <a:r>
              <a:rPr lang="en-US" sz="3600" dirty="0">
                <a:latin typeface="Times New Roman" panose="02020603050405020304" pitchFamily="18" charset="0"/>
                <a:cs typeface="Times New Roman" panose="02020603050405020304" pitchFamily="18" charset="0"/>
              </a:rPr>
              <a:t> VS Code, Live Server Extension, and Firebase Console.</a:t>
            </a:r>
          </a:p>
          <a:p>
            <a:pPr marL="457200" indent="-457200">
              <a:buFontTx/>
              <a:buChar char="-"/>
            </a:pPr>
            <a:r>
              <a:rPr lang="en-US" sz="3600" b="1" dirty="0">
                <a:latin typeface="Times New Roman" panose="02020603050405020304" pitchFamily="18" charset="0"/>
                <a:cs typeface="Times New Roman" panose="02020603050405020304" pitchFamily="18" charset="0"/>
              </a:rPr>
              <a:t>Hardware/Software Requirements:</a:t>
            </a:r>
          </a:p>
          <a:p>
            <a:pPr marL="457200" indent="-457200">
              <a:buFontTx/>
              <a:buChar char="-"/>
            </a:pPr>
            <a:r>
              <a:rPr lang="en-US" sz="3600" b="1"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Modern Web Browser (Chrome/Edge), Internet connection.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76975" y="1982349"/>
            <a:ext cx="15082325" cy="8956298"/>
          </a:xfrm>
          <a:prstGeom prst="rect">
            <a:avLst/>
          </a:prstGeom>
          <a:noFill/>
        </p:spPr>
        <p:txBody>
          <a:bodyPr wrap="square" rtlCol="0">
            <a:spAutoFit/>
          </a:bodyPr>
          <a:lstStyle/>
          <a:p>
            <a:endParaRPr lang="en-IN" sz="3600" b="1" dirty="0">
              <a:latin typeface="Times New Roman" panose="02020603050405020304" pitchFamily="18" charset="0"/>
              <a:cs typeface="Times New Roman" panose="02020603050405020304" pitchFamily="18" charset="0"/>
            </a:endParaRPr>
          </a:p>
          <a:p>
            <a:r>
              <a:rPr lang="en-US" sz="3600" b="1" dirty="0">
                <a:latin typeface="Times New Roman" panose="02020603050405020304" pitchFamily="18" charset="0"/>
                <a:cs typeface="Times New Roman" panose="02020603050405020304" pitchFamily="18" charset="0"/>
              </a:rPr>
              <a:t>Module 1: User Interface</a:t>
            </a:r>
          </a:p>
          <a:p>
            <a:r>
              <a:rPr lang="en-US" sz="3600" dirty="0">
                <a:latin typeface="Times New Roman" panose="02020603050405020304" pitchFamily="18" charset="0"/>
                <a:cs typeface="Times New Roman" panose="02020603050405020304" pitchFamily="18" charset="0"/>
              </a:rPr>
              <a:t> A responsive form designed with Vel Tech branding for student data entry</a:t>
            </a:r>
          </a:p>
          <a:p>
            <a:r>
              <a:rPr lang="en-US" sz="3600" b="1" dirty="0">
                <a:latin typeface="Times New Roman" panose="02020603050405020304" pitchFamily="18" charset="0"/>
                <a:cs typeface="Times New Roman" panose="02020603050405020304" pitchFamily="18" charset="0"/>
              </a:rPr>
              <a:t>Module 2: Firebase Integration</a:t>
            </a:r>
          </a:p>
          <a:p>
            <a:r>
              <a:rPr lang="en-US" sz="3600" dirty="0">
                <a:latin typeface="Times New Roman" panose="02020603050405020304" pitchFamily="18" charset="0"/>
                <a:cs typeface="Times New Roman" panose="02020603050405020304" pitchFamily="18" charset="0"/>
              </a:rPr>
              <a:t> Establishes a secure connection between the web portal and the cloud database. </a:t>
            </a:r>
            <a:r>
              <a:rPr lang="en-IN" sz="3600" dirty="0">
                <a:latin typeface="Times New Roman" panose="02020603050405020304" pitchFamily="18" charset="0"/>
                <a:cs typeface="Times New Roman" panose="02020603050405020304" pitchFamily="18" charset="0"/>
              </a:rPr>
              <a:t>.</a:t>
            </a:r>
          </a:p>
          <a:p>
            <a:r>
              <a:rPr lang="en-US" sz="3600" b="1" dirty="0">
                <a:latin typeface="Times New Roman" panose="02020603050405020304" pitchFamily="18" charset="0"/>
                <a:cs typeface="Times New Roman" panose="02020603050405020304" pitchFamily="18" charset="0"/>
              </a:rPr>
              <a:t>Module 3: Data Management</a:t>
            </a:r>
          </a:p>
          <a:p>
            <a:r>
              <a:rPr lang="en-US" sz="3600" dirty="0">
                <a:latin typeface="Times New Roman" panose="02020603050405020304" pitchFamily="18" charset="0"/>
                <a:cs typeface="Times New Roman" panose="02020603050405020304" pitchFamily="18" charset="0"/>
              </a:rPr>
              <a:t>Handles the submission, storage, and retrieval of student registration documents</a:t>
            </a:r>
          </a:p>
          <a:p>
            <a:r>
              <a:rPr lang="en-US" sz="3600" b="1" dirty="0">
                <a:latin typeface="Times New Roman" panose="02020603050405020304" pitchFamily="18" charset="0"/>
                <a:cs typeface="Times New Roman" panose="02020603050405020304" pitchFamily="18" charset="0"/>
              </a:rPr>
              <a:t>Module 4: Event Filtering</a:t>
            </a:r>
          </a:p>
          <a:p>
            <a:r>
              <a:rPr lang="en-US" sz="3600" dirty="0">
                <a:latin typeface="Times New Roman" panose="02020603050405020304" pitchFamily="18" charset="0"/>
                <a:cs typeface="Times New Roman" panose="02020603050405020304" pitchFamily="18" charset="0"/>
              </a:rPr>
              <a:t> Provides a categorized dropdown system for Flagship, Cultural, and Academic events.</a:t>
            </a:r>
            <a:endParaRPr lang="en-IN" sz="36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9" name="Picture 38">
            <a:extLst>
              <a:ext uri="{FF2B5EF4-FFF2-40B4-BE49-F238E27FC236}">
                <a16:creationId xmlns:a16="http://schemas.microsoft.com/office/drawing/2014/main" id="{48D8AEB3-64F7-4867-FD8C-AC2F35908D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40420" y="2271668"/>
            <a:ext cx="12417881" cy="7424184"/>
          </a:xfrm>
          <a:prstGeom prst="rect">
            <a:avLst/>
          </a:prstGeom>
        </p:spPr>
      </p:pic>
      <p:sp>
        <p:nvSpPr>
          <p:cNvPr id="40" name="Title 39">
            <a:extLst>
              <a:ext uri="{FF2B5EF4-FFF2-40B4-BE49-F238E27FC236}">
                <a16:creationId xmlns:a16="http://schemas.microsoft.com/office/drawing/2014/main" id="{7904F335-3373-3D98-16C1-FD5514726F39}"/>
              </a:ext>
            </a:extLst>
          </p:cNvPr>
          <p:cNvSpPr>
            <a:spLocks noGrp="1"/>
          </p:cNvSpPr>
          <p:nvPr>
            <p:ph type="title"/>
          </p:nvPr>
        </p:nvSpPr>
        <p:spPr>
          <a:xfrm>
            <a:off x="3023395" y="1052947"/>
            <a:ext cx="12263309" cy="1143000"/>
          </a:xfrm>
        </p:spPr>
        <p:txBody>
          <a:bodyPr>
            <a:normAutofit/>
          </a:bodyPr>
          <a:lstStyle/>
          <a:p>
            <a:r>
              <a:rPr lang="en-US" sz="2400" b="1" dirty="0">
                <a:latin typeface="Times New Roman" panose="02020603050405020304" pitchFamily="18" charset="0"/>
                <a:cs typeface="Times New Roman" panose="02020603050405020304" pitchFamily="18" charset="0"/>
              </a:rPr>
              <a:t>Home Page showing the Vel Tech themed registration card.</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2667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1787122" y="1567309"/>
            <a:ext cx="15082325"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                  Industrial Visit Registration  through student event Registration Portal</a:t>
            </a:r>
            <a:endParaRPr lang="en-IN" sz="32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04B87B4-34B7-EB2A-8B41-ED81CFF3D8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5400" y="2570234"/>
            <a:ext cx="9849651" cy="7280888"/>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1837593" y="1330962"/>
            <a:ext cx="15082325" cy="4524315"/>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                          The "Success Alert" after a student clicks submit. </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7588878-8C6B-8B9C-F478-811C829802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5301" y="2301311"/>
            <a:ext cx="14083866" cy="7514684"/>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5" name="Picture 44">
            <a:extLst>
              <a:ext uri="{FF2B5EF4-FFF2-40B4-BE49-F238E27FC236}">
                <a16:creationId xmlns:a16="http://schemas.microsoft.com/office/drawing/2014/main" id="{463A9B27-D9D2-76BD-BF4F-0CA09B9838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3375" y="3587644"/>
            <a:ext cx="12546176" cy="5458587"/>
          </a:xfrm>
          <a:prstGeom prst="rect">
            <a:avLst/>
          </a:prstGeom>
        </p:spPr>
      </p:pic>
      <p:sp>
        <p:nvSpPr>
          <p:cNvPr id="46" name="Title 45">
            <a:extLst>
              <a:ext uri="{FF2B5EF4-FFF2-40B4-BE49-F238E27FC236}">
                <a16:creationId xmlns:a16="http://schemas.microsoft.com/office/drawing/2014/main" id="{7E23D96E-CFEB-D543-DCEA-D60D4A148473}"/>
              </a:ext>
            </a:extLst>
          </p:cNvPr>
          <p:cNvSpPr>
            <a:spLocks noGrp="1"/>
          </p:cNvSpPr>
          <p:nvPr>
            <p:ph type="title"/>
          </p:nvPr>
        </p:nvSpPr>
        <p:spPr>
          <a:xfrm>
            <a:off x="4546735" y="1777014"/>
            <a:ext cx="8229600" cy="1143000"/>
          </a:xfrm>
        </p:spPr>
        <p:txBody>
          <a:bodyPr>
            <a:noAutofit/>
          </a:bodyPr>
          <a:lstStyle/>
          <a:p>
            <a:r>
              <a:rPr lang="en-US" sz="4000" b="1" dirty="0">
                <a:latin typeface="Times New Roman" panose="02020603050405020304" pitchFamily="18" charset="0"/>
                <a:cs typeface="Times New Roman" panose="02020603050405020304" pitchFamily="18" charset="0"/>
              </a:rPr>
              <a:t>The Firebase Console showing the data actually stored in </a:t>
            </a:r>
            <a:r>
              <a:rPr lang="en-US" sz="4000" b="1" dirty="0" err="1">
                <a:latin typeface="Times New Roman" panose="02020603050405020304" pitchFamily="18" charset="0"/>
                <a:cs typeface="Times New Roman" panose="02020603050405020304" pitchFamily="18" charset="0"/>
              </a:rPr>
              <a:t>Firestore</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graphicFrame>
        <p:nvGraphicFramePr>
          <p:cNvPr id="40" name="Content Placeholder 39">
            <a:extLst>
              <a:ext uri="{FF2B5EF4-FFF2-40B4-BE49-F238E27FC236}">
                <a16:creationId xmlns:a16="http://schemas.microsoft.com/office/drawing/2014/main" id="{85CB4A4A-C636-756F-4AA8-9733DB393C35}"/>
              </a:ext>
            </a:extLst>
          </p:cNvPr>
          <p:cNvGraphicFramePr>
            <a:graphicFrameLocks noGrp="1"/>
          </p:cNvGraphicFramePr>
          <p:nvPr>
            <p:ph idx="1"/>
            <p:extLst>
              <p:ext uri="{D42A27DB-BD31-4B8C-83A1-F6EECF244321}">
                <p14:modId xmlns:p14="http://schemas.microsoft.com/office/powerpoint/2010/main" val="2629577406"/>
              </p:ext>
            </p:extLst>
          </p:nvPr>
        </p:nvGraphicFramePr>
        <p:xfrm>
          <a:off x="3581399" y="1982349"/>
          <a:ext cx="12174233" cy="704735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492</TotalTime>
  <Words>965</Words>
  <Application>Microsoft Office PowerPoint</Application>
  <PresentationFormat>Custom</PresentationFormat>
  <Paragraphs>244</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Wingdings</vt:lpstr>
      <vt:lpstr>Bookman Old Style</vt:lpstr>
      <vt:lpstr>Arial</vt:lpstr>
      <vt:lpstr>Calibri</vt:lpstr>
      <vt:lpstr>Times New Roman</vt:lpstr>
      <vt:lpstr>Cambria</vt:lpstr>
      <vt:lpstr>Gotham Bold Italics</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Home Page showing the Vel Tech themed registration card.</vt:lpstr>
      <vt:lpstr>PowerPoint Presentation</vt:lpstr>
      <vt:lpstr>PowerPoint Presentation</vt:lpstr>
      <vt:lpstr>The Firebase Console showing the data actually stored in Firestore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Victus</dc:creator>
  <cp:lastModifiedBy>KARTIKEYA K</cp:lastModifiedBy>
  <cp:revision>12</cp:revision>
  <dcterms:created xsi:type="dcterms:W3CDTF">2006-08-16T00:00:00Z</dcterms:created>
  <dcterms:modified xsi:type="dcterms:W3CDTF">2026-03-21T13:46:27Z</dcterms:modified>
  <dc:identifier>DAHCaYqJ9OU</dc:identifier>
</cp:coreProperties>
</file>